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100;p20" descr="Google Shape;100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3619" y="724761"/>
            <a:ext cx="7796952" cy="2171912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1"/>
          <p:cNvSpPr txBox="1"/>
          <p:nvPr/>
        </p:nvSpPr>
        <p:spPr>
          <a:xfrm>
            <a:off x="2519836" y="2700315"/>
            <a:ext cx="3077505" cy="4970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/>
            </a:lvl1pPr>
          </a:lstStyle>
          <a:p>
            <a:pPr/>
            <a:r>
              <a:t>Niramaya AI</a:t>
            </a:r>
          </a:p>
        </p:txBody>
      </p:sp>
      <p:sp>
        <p:nvSpPr>
          <p:cNvPr id="96" name="TextBox 2"/>
          <p:cNvSpPr txBox="1"/>
          <p:nvPr/>
        </p:nvSpPr>
        <p:spPr>
          <a:xfrm>
            <a:off x="675651" y="3219390"/>
            <a:ext cx="6972888" cy="396241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FFFF"/>
              </a:gs>
            </a:gsLst>
            <a:lin ang="10530282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00549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Predictive Health Resource &amp; Supply Chain Intelligence</a:t>
            </a:r>
          </a:p>
        </p:txBody>
      </p:sp>
      <p:sp>
        <p:nvSpPr>
          <p:cNvPr id="97" name="TextBox 3"/>
          <p:cNvSpPr txBox="1"/>
          <p:nvPr/>
        </p:nvSpPr>
        <p:spPr>
          <a:xfrm>
            <a:off x="704087" y="3689779"/>
            <a:ext cx="6492241" cy="392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Predict before shortage. Act before crisis.</a:t>
            </a:r>
          </a:p>
        </p:txBody>
      </p:sp>
      <p:sp>
        <p:nvSpPr>
          <p:cNvPr id="98" name="TextBox 4"/>
          <p:cNvSpPr txBox="1"/>
          <p:nvPr/>
        </p:nvSpPr>
        <p:spPr>
          <a:xfrm>
            <a:off x="749807" y="4156398"/>
            <a:ext cx="6400801" cy="7607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rPr b="1"/>
              <a:t>Build With AI:</a:t>
            </a:r>
            <a:r>
              <a:t> Code for Communities 2.0</a:t>
            </a:r>
          </a:p>
          <a:p>
            <a:pPr>
              <a:defRPr sz="2400"/>
            </a:pPr>
            <a:r>
              <a:t>Smart Health &amp; Supply Chain Resilience</a:t>
            </a:r>
          </a:p>
        </p:txBody>
      </p:sp>
      <p:sp>
        <p:nvSpPr>
          <p:cNvPr id="99" name="Rounded Rectangle 5"/>
          <p:cNvSpPr/>
          <p:nvPr/>
        </p:nvSpPr>
        <p:spPr>
          <a:xfrm>
            <a:off x="8046719" y="1055504"/>
            <a:ext cx="3474721" cy="525017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100000">
                <a:srgbClr val="A7A7A7"/>
              </a:gs>
            </a:gsLst>
            <a:lin ang="10530282"/>
          </a:gradFill>
          <a:ln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b="1" baseline="73333" i="1" spc="0" sz="1500">
                <a:solidFill>
                  <a:srgbClr val="FFFFFF"/>
                </a:solidFill>
              </a:defRPr>
            </a:pPr>
          </a:p>
        </p:txBody>
      </p:sp>
      <p:sp>
        <p:nvSpPr>
          <p:cNvPr id="100" name="TextBox 7"/>
          <p:cNvSpPr txBox="1"/>
          <p:nvPr/>
        </p:nvSpPr>
        <p:spPr>
          <a:xfrm>
            <a:off x="8540495" y="1346069"/>
            <a:ext cx="2487169" cy="469266"/>
          </a:xfrm>
          <a:prstGeom prst="rect">
            <a:avLst/>
          </a:prstGeom>
          <a:solidFill>
            <a:srgbClr val="A7A7A7"/>
          </a:solidFill>
          <a:ln>
            <a:solidFill>
              <a:srgbClr val="000000"/>
            </a:solidFill>
          </a:ln>
          <a:effectLst>
            <a:outerShdw sx="100000" sy="100000" kx="0" ky="0" algn="b" rotWithShape="0" blurRad="127000" dist="508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baseline="73333" i="1" spc="0" sz="15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PREDICT</a:t>
            </a:r>
          </a:p>
        </p:txBody>
      </p:sp>
      <p:sp>
        <p:nvSpPr>
          <p:cNvPr id="101" name="TextBox 9"/>
          <p:cNvSpPr txBox="1"/>
          <p:nvPr/>
        </p:nvSpPr>
        <p:spPr>
          <a:xfrm>
            <a:off x="8540495" y="2125645"/>
            <a:ext cx="2487169" cy="469266"/>
          </a:xfrm>
          <a:prstGeom prst="rect">
            <a:avLst/>
          </a:prstGeom>
          <a:solidFill>
            <a:srgbClr val="A7A7A7"/>
          </a:solidFill>
          <a:ln>
            <a:solidFill>
              <a:srgbClr val="000000"/>
            </a:solidFill>
          </a:ln>
          <a:effectLst>
            <a:outerShdw sx="100000" sy="100000" kx="0" ky="0" algn="b" rotWithShape="0" blurRad="127000" dist="508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baseline="73333" i="1" spc="0" sz="1500">
                <a:solidFill>
                  <a:srgbClr val="F7636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DETECT</a:t>
            </a:r>
          </a:p>
        </p:txBody>
      </p:sp>
      <p:sp>
        <p:nvSpPr>
          <p:cNvPr id="102" name="TextBox 11"/>
          <p:cNvSpPr txBox="1"/>
          <p:nvPr/>
        </p:nvSpPr>
        <p:spPr>
          <a:xfrm>
            <a:off x="8540495" y="2907687"/>
            <a:ext cx="2487169" cy="469266"/>
          </a:xfrm>
          <a:prstGeom prst="rect">
            <a:avLst/>
          </a:prstGeom>
          <a:solidFill>
            <a:srgbClr val="A7A7A7"/>
          </a:solidFill>
          <a:ln>
            <a:solidFill>
              <a:srgbClr val="000000"/>
            </a:solidFill>
          </a:ln>
          <a:effectLst>
            <a:outerShdw sx="100000" sy="100000" kx="0" ky="0" algn="b" rotWithShape="0" blurRad="127000" dist="508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baseline="73333" i="1" spc="0" sz="1500">
                <a:solidFill>
                  <a:srgbClr val="52D38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OPTIMIZE</a:t>
            </a:r>
          </a:p>
        </p:txBody>
      </p:sp>
      <p:sp>
        <p:nvSpPr>
          <p:cNvPr id="103" name="TextBox 13"/>
          <p:cNvSpPr txBox="1"/>
          <p:nvPr/>
        </p:nvSpPr>
        <p:spPr>
          <a:xfrm>
            <a:off x="8540495" y="3726022"/>
            <a:ext cx="2487169" cy="469266"/>
          </a:xfrm>
          <a:prstGeom prst="rect">
            <a:avLst/>
          </a:prstGeom>
          <a:solidFill>
            <a:srgbClr val="A7A7A7"/>
          </a:solidFill>
          <a:ln>
            <a:solidFill>
              <a:srgbClr val="000000"/>
            </a:solidFill>
          </a:ln>
          <a:effectLst>
            <a:outerShdw sx="100000" sy="100000" kx="0" ky="0" algn="b" rotWithShape="0" blurRad="127000" dist="508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baseline="73333" i="1" spc="0" sz="1500">
                <a:solidFill>
                  <a:srgbClr val="F6BE4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SIMULATE</a:t>
            </a:r>
          </a:p>
        </p:txBody>
      </p:sp>
      <p:sp>
        <p:nvSpPr>
          <p:cNvPr id="104" name="TextBox 15"/>
          <p:cNvSpPr txBox="1"/>
          <p:nvPr/>
        </p:nvSpPr>
        <p:spPr>
          <a:xfrm>
            <a:off x="8540495" y="4544358"/>
            <a:ext cx="2487169" cy="469266"/>
          </a:xfrm>
          <a:prstGeom prst="rect">
            <a:avLst/>
          </a:prstGeom>
          <a:solidFill>
            <a:srgbClr val="A7A7A7"/>
          </a:solidFill>
          <a:ln>
            <a:solidFill>
              <a:srgbClr val="000000"/>
            </a:solidFill>
          </a:ln>
          <a:effectLst>
            <a:outerShdw sx="100000" sy="100000" kx="0" ky="0" algn="b" rotWithShape="0" blurRad="127000" dist="508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baseline="73333" i="1" spc="0" sz="1500">
                <a:solidFill>
                  <a:srgbClr val="A57D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EXPLAIN WITH GEMINI</a:t>
            </a:r>
          </a:p>
        </p:txBody>
      </p:sp>
      <p:sp>
        <p:nvSpPr>
          <p:cNvPr id="105" name="TextBox 17"/>
          <p:cNvSpPr txBox="1"/>
          <p:nvPr/>
        </p:nvSpPr>
        <p:spPr>
          <a:xfrm>
            <a:off x="8540495" y="5239513"/>
            <a:ext cx="2487169" cy="469266"/>
          </a:xfrm>
          <a:prstGeom prst="rect">
            <a:avLst/>
          </a:prstGeom>
          <a:solidFill>
            <a:srgbClr val="A7A7A7"/>
          </a:solidFill>
          <a:ln>
            <a:solidFill>
              <a:srgbClr val="000000"/>
            </a:solidFill>
          </a:ln>
          <a:effectLst>
            <a:outerShdw sx="100000" sy="100000" kx="0" ky="0" algn="b" rotWithShape="0" blurRad="127000" dist="508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baseline="73333" i="1" spc="0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HUMAN DECISION</a:t>
            </a:r>
          </a:p>
        </p:txBody>
      </p:sp>
      <p:sp>
        <p:nvSpPr>
          <p:cNvPr id="106" name="TextBox 18"/>
          <p:cNvSpPr txBox="1"/>
          <p:nvPr/>
        </p:nvSpPr>
        <p:spPr>
          <a:xfrm>
            <a:off x="706161" y="5097712"/>
            <a:ext cx="2651761" cy="3853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/>
            </a:lvl1pPr>
          </a:lstStyle>
          <a:p>
            <a:pPr/>
            <a:r>
              <a:t>Team Niramaya AI</a:t>
            </a:r>
          </a:p>
        </p:txBody>
      </p:sp>
      <p:sp>
        <p:nvSpPr>
          <p:cNvPr id="107" name="TextBox 19"/>
          <p:cNvSpPr txBox="1"/>
          <p:nvPr/>
        </p:nvSpPr>
        <p:spPr>
          <a:xfrm>
            <a:off x="717662" y="5410398"/>
            <a:ext cx="2367621" cy="145217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/>
            </a:pPr>
            <a:r>
              <a:t>Pradumn Patidar</a:t>
            </a:r>
          </a:p>
          <a:p>
            <a:pPr>
              <a:defRPr sz="2200"/>
            </a:pPr>
            <a:r>
              <a:t>Kartik Patidar </a:t>
            </a:r>
          </a:p>
          <a:p>
            <a:pPr>
              <a:defRPr sz="2200"/>
            </a:pPr>
            <a:r>
              <a:t>Shikha Sharma</a:t>
            </a:r>
          </a:p>
          <a:p>
            <a:pPr>
              <a:defRPr sz="2200"/>
            </a:pPr>
            <a:r>
              <a:t>Suniti Rathi</a:t>
            </a:r>
          </a:p>
        </p:txBody>
      </p:sp>
      <p:sp>
        <p:nvSpPr>
          <p:cNvPr id="108" name="Google Shape;92;p19"/>
          <p:cNvSpPr txBox="1"/>
          <p:nvPr/>
        </p:nvSpPr>
        <p:spPr>
          <a:xfrm>
            <a:off x="1416611" y="402878"/>
            <a:ext cx="8784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defTabSz="914400">
              <a:defRPr b="1" sz="1500">
                <a:solidFill>
                  <a:srgbClr val="43434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Indore</a:t>
            </a:r>
          </a:p>
        </p:txBody>
      </p:sp>
      <p:pic>
        <p:nvPicPr>
          <p:cNvPr id="109" name="Google Shape;91;p19" descr="Google Shape;91;p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6511" y="149884"/>
            <a:ext cx="5022908" cy="649947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2"/>
          <p:cNvSpPr txBox="1"/>
          <p:nvPr/>
        </p:nvSpPr>
        <p:spPr>
          <a:xfrm>
            <a:off x="598365" y="809213"/>
            <a:ext cx="10652761" cy="4899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Problem Statement</a:t>
            </a:r>
          </a:p>
        </p:txBody>
      </p:sp>
      <p:sp>
        <p:nvSpPr>
          <p:cNvPr id="112" name="TextBox 3"/>
          <p:cNvSpPr txBox="1"/>
          <p:nvPr/>
        </p:nvSpPr>
        <p:spPr>
          <a:xfrm>
            <a:off x="616966" y="1266572"/>
            <a:ext cx="10789920" cy="7607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Public healthcare facilities generate operational data around inventory, consumption, demand, procurement, equipment and logistics.</a:t>
            </a:r>
          </a:p>
        </p:txBody>
      </p:sp>
      <p:sp>
        <p:nvSpPr>
          <p:cNvPr id="113" name="Rounded Rectangle 4"/>
          <p:cNvSpPr/>
          <p:nvPr/>
        </p:nvSpPr>
        <p:spPr>
          <a:xfrm>
            <a:off x="525525" y="2056597"/>
            <a:ext cx="3520442" cy="141732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Rectangle 5"/>
          <p:cNvSpPr/>
          <p:nvPr/>
        </p:nvSpPr>
        <p:spPr>
          <a:xfrm>
            <a:off x="525525" y="2056597"/>
            <a:ext cx="50293" cy="1417321"/>
          </a:xfrm>
          <a:prstGeom prst="rect">
            <a:avLst/>
          </a:prstGeom>
          <a:solidFill>
            <a:srgbClr val="F76367"/>
          </a:solidFill>
          <a:ln>
            <a:solidFill>
              <a:srgbClr val="F7636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6"/>
          <p:cNvSpPr txBox="1"/>
          <p:nvPr/>
        </p:nvSpPr>
        <p:spPr>
          <a:xfrm>
            <a:off x="735838" y="2184613"/>
            <a:ext cx="31089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🔴 SHORTAGE RISK</a:t>
            </a:r>
          </a:p>
        </p:txBody>
      </p:sp>
      <p:sp>
        <p:nvSpPr>
          <p:cNvPr id="116" name="TextBox 7"/>
          <p:cNvSpPr txBox="1"/>
          <p:nvPr/>
        </p:nvSpPr>
        <p:spPr>
          <a:xfrm>
            <a:off x="744981" y="2576937"/>
            <a:ext cx="3108961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Where is a medicine or resource likely to become critical next?</a:t>
            </a:r>
          </a:p>
        </p:txBody>
      </p:sp>
      <p:sp>
        <p:nvSpPr>
          <p:cNvPr id="117" name="Rounded Rectangle 8"/>
          <p:cNvSpPr/>
          <p:nvPr/>
        </p:nvSpPr>
        <p:spPr>
          <a:xfrm>
            <a:off x="4329429" y="2056597"/>
            <a:ext cx="3520442" cy="141732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Rectangle 9"/>
          <p:cNvSpPr/>
          <p:nvPr/>
        </p:nvSpPr>
        <p:spPr>
          <a:xfrm>
            <a:off x="4329429" y="2056597"/>
            <a:ext cx="50293" cy="1417321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10"/>
          <p:cNvSpPr txBox="1"/>
          <p:nvPr/>
        </p:nvSpPr>
        <p:spPr>
          <a:xfrm>
            <a:off x="4539741" y="2184613"/>
            <a:ext cx="31089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🟠 EXPIRY RISK</a:t>
            </a:r>
          </a:p>
        </p:txBody>
      </p:sp>
      <p:sp>
        <p:nvSpPr>
          <p:cNvPr id="120" name="TextBox 11"/>
          <p:cNvSpPr txBox="1"/>
          <p:nvPr/>
        </p:nvSpPr>
        <p:spPr>
          <a:xfrm>
            <a:off x="4539741" y="2577804"/>
            <a:ext cx="310896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Which inventory may expire before it is consumed?</a:t>
            </a:r>
          </a:p>
        </p:txBody>
      </p:sp>
      <p:sp>
        <p:nvSpPr>
          <p:cNvPr id="121" name="Rounded Rectangle 12"/>
          <p:cNvSpPr/>
          <p:nvPr/>
        </p:nvSpPr>
        <p:spPr>
          <a:xfrm>
            <a:off x="8133333" y="2056597"/>
            <a:ext cx="3520441" cy="141732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Rectangle 13"/>
          <p:cNvSpPr/>
          <p:nvPr/>
        </p:nvSpPr>
        <p:spPr>
          <a:xfrm>
            <a:off x="8133333" y="2056597"/>
            <a:ext cx="50293" cy="1417321"/>
          </a:xfrm>
          <a:prstGeom prst="rect">
            <a:avLst/>
          </a:prstGeom>
          <a:solidFill>
            <a:srgbClr val="42D3E8"/>
          </a:solidFill>
          <a:ln>
            <a:solidFill>
              <a:srgbClr val="42D3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14"/>
          <p:cNvSpPr txBox="1"/>
          <p:nvPr/>
        </p:nvSpPr>
        <p:spPr>
          <a:xfrm>
            <a:off x="8343645" y="2184613"/>
            <a:ext cx="31089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🔵 SURPLUS</a:t>
            </a:r>
          </a:p>
        </p:txBody>
      </p:sp>
      <p:sp>
        <p:nvSpPr>
          <p:cNvPr id="124" name="TextBox 15"/>
          <p:cNvSpPr txBox="1"/>
          <p:nvPr/>
        </p:nvSpPr>
        <p:spPr>
          <a:xfrm>
            <a:off x="8334502" y="2551362"/>
            <a:ext cx="3108961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Where may usable surplus exist while another facility faces demand?</a:t>
            </a:r>
          </a:p>
        </p:txBody>
      </p:sp>
      <p:sp>
        <p:nvSpPr>
          <p:cNvPr id="125" name="Rounded Rectangle 16"/>
          <p:cNvSpPr/>
          <p:nvPr/>
        </p:nvSpPr>
        <p:spPr>
          <a:xfrm>
            <a:off x="525525" y="3766525"/>
            <a:ext cx="3520442" cy="141732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Rectangle 17"/>
          <p:cNvSpPr/>
          <p:nvPr/>
        </p:nvSpPr>
        <p:spPr>
          <a:xfrm>
            <a:off x="525525" y="3766525"/>
            <a:ext cx="50293" cy="1417321"/>
          </a:xfrm>
          <a:prstGeom prst="rect">
            <a:avLst/>
          </a:prstGeom>
          <a:solidFill>
            <a:srgbClr val="A57DFF"/>
          </a:solidFill>
          <a:ln>
            <a:solidFill>
              <a:srgbClr val="A57D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18"/>
          <p:cNvSpPr txBox="1"/>
          <p:nvPr/>
        </p:nvSpPr>
        <p:spPr>
          <a:xfrm>
            <a:off x="735838" y="3894541"/>
            <a:ext cx="31089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🟣 DEMAND SURGE</a:t>
            </a:r>
          </a:p>
        </p:txBody>
      </p:sp>
      <p:sp>
        <p:nvSpPr>
          <p:cNvPr id="128" name="TextBox 19"/>
          <p:cNvSpPr txBox="1"/>
          <p:nvPr/>
        </p:nvSpPr>
        <p:spPr>
          <a:xfrm>
            <a:off x="735838" y="4287734"/>
            <a:ext cx="310896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happens if patient demand suddenly increases?</a:t>
            </a:r>
          </a:p>
        </p:txBody>
      </p:sp>
      <p:sp>
        <p:nvSpPr>
          <p:cNvPr id="129" name="Rounded Rectangle 20"/>
          <p:cNvSpPr/>
          <p:nvPr/>
        </p:nvSpPr>
        <p:spPr>
          <a:xfrm>
            <a:off x="4329429" y="3766525"/>
            <a:ext cx="7324345" cy="1417321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21"/>
          <p:cNvSpPr txBox="1"/>
          <p:nvPr/>
        </p:nvSpPr>
        <p:spPr>
          <a:xfrm>
            <a:off x="4672073" y="3896065"/>
            <a:ext cx="267970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REAL GAP</a:t>
            </a:r>
          </a:p>
        </p:txBody>
      </p:sp>
      <p:sp>
        <p:nvSpPr>
          <p:cNvPr id="131" name="TextBox 22"/>
          <p:cNvSpPr txBox="1"/>
          <p:nvPr/>
        </p:nvSpPr>
        <p:spPr>
          <a:xfrm>
            <a:off x="4676901" y="4233672"/>
            <a:ext cx="6629401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exists. The missing layer is proactive, cross-facility intelligence that turns operational data into early warnings and possible actions.</a:t>
            </a:r>
          </a:p>
        </p:txBody>
      </p:sp>
      <p:sp>
        <p:nvSpPr>
          <p:cNvPr id="132" name="TextBox 23"/>
          <p:cNvSpPr txBox="1"/>
          <p:nvPr/>
        </p:nvSpPr>
        <p:spPr>
          <a:xfrm>
            <a:off x="754125" y="5360067"/>
            <a:ext cx="10515601" cy="76077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Example: falling stock + rising forecasted consumption → projected shortage in 4 days.</a:t>
            </a:r>
          </a:p>
        </p:txBody>
      </p:sp>
      <p:sp>
        <p:nvSpPr>
          <p:cNvPr id="133" name="TextBox 24"/>
          <p:cNvSpPr txBox="1"/>
          <p:nvPr/>
        </p:nvSpPr>
        <p:spPr>
          <a:xfrm>
            <a:off x="666945" y="6049087"/>
            <a:ext cx="10515601" cy="392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Can the system identify the risk early enough for an authorized official to act?</a:t>
            </a:r>
          </a:p>
        </p:txBody>
      </p:sp>
      <p:sp>
        <p:nvSpPr>
          <p:cNvPr id="134" name="TextBox 25"/>
          <p:cNvSpPr txBox="1"/>
          <p:nvPr/>
        </p:nvSpPr>
        <p:spPr>
          <a:xfrm>
            <a:off x="548639" y="6510528"/>
            <a:ext cx="6766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Niramaya AI • Build With AI: Code for Communities 2.0</a:t>
            </a:r>
          </a:p>
        </p:txBody>
      </p:sp>
      <p:sp>
        <p:nvSpPr>
          <p:cNvPr id="135" name="TextBox 26"/>
          <p:cNvSpPr txBox="1"/>
          <p:nvPr/>
        </p:nvSpPr>
        <p:spPr>
          <a:xfrm>
            <a:off x="9423400" y="6510528"/>
            <a:ext cx="2194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Team Niramaya AI</a:t>
            </a:r>
          </a:p>
        </p:txBody>
      </p:sp>
      <p:sp>
        <p:nvSpPr>
          <p:cNvPr id="136" name="Google Shape;92;p19"/>
          <p:cNvSpPr txBox="1"/>
          <p:nvPr/>
        </p:nvSpPr>
        <p:spPr>
          <a:xfrm>
            <a:off x="1175096" y="305528"/>
            <a:ext cx="8784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defTabSz="914400">
              <a:defRPr b="1" sz="1500">
                <a:solidFill>
                  <a:srgbClr val="43434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Indore</a:t>
            </a:r>
          </a:p>
        </p:txBody>
      </p:sp>
      <p:pic>
        <p:nvPicPr>
          <p:cNvPr id="137" name="Google Shape;91;p19" descr="Google Shape;91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98" y="66897"/>
            <a:ext cx="5022909" cy="649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 txBox="1"/>
          <p:nvPr/>
        </p:nvSpPr>
        <p:spPr>
          <a:xfrm>
            <a:off x="639372" y="1070583"/>
            <a:ext cx="10652761" cy="4899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Proposed Solution</a:t>
            </a:r>
          </a:p>
        </p:txBody>
      </p:sp>
      <p:sp>
        <p:nvSpPr>
          <p:cNvPr id="140" name="TextBox 3"/>
          <p:cNvSpPr txBox="1"/>
          <p:nvPr/>
        </p:nvSpPr>
        <p:spPr>
          <a:xfrm>
            <a:off x="707952" y="1612397"/>
            <a:ext cx="10515601" cy="392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240631" indent="-240631">
              <a:buSzPct val="100000"/>
              <a:buChar char="•"/>
              <a:defRPr sz="2400"/>
            </a:lvl1pPr>
          </a:lstStyle>
          <a:p>
            <a:pPr/>
            <a:r>
              <a:t>An AI-powered decision-support platform for public-health resource resilience</a:t>
            </a:r>
          </a:p>
        </p:txBody>
      </p:sp>
      <p:sp>
        <p:nvSpPr>
          <p:cNvPr id="141" name="TextBox 4"/>
          <p:cNvSpPr txBox="1"/>
          <p:nvPr/>
        </p:nvSpPr>
        <p:spPr>
          <a:xfrm>
            <a:off x="671688" y="2056729"/>
            <a:ext cx="10789921" cy="7607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240631" indent="-240631">
              <a:buSzPct val="100000"/>
              <a:buChar char="•"/>
              <a:defRPr sz="2400"/>
            </a:lvl1pPr>
          </a:lstStyle>
          <a:p>
            <a:pPr/>
            <a:r>
              <a:t>Niramaya converts authorized operational data into predictions, risk alerts, optimization recommendations, simulations and explainable insights.</a:t>
            </a:r>
          </a:p>
        </p:txBody>
      </p:sp>
      <p:sp>
        <p:nvSpPr>
          <p:cNvPr id="142" name="Rounded Rectangle 5"/>
          <p:cNvSpPr/>
          <p:nvPr/>
        </p:nvSpPr>
        <p:spPr>
          <a:xfrm>
            <a:off x="500207" y="2806596"/>
            <a:ext cx="2084832" cy="246888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143" name="TextBox 6"/>
          <p:cNvSpPr txBox="1"/>
          <p:nvPr/>
        </p:nvSpPr>
        <p:spPr>
          <a:xfrm>
            <a:off x="660159" y="3042643"/>
            <a:ext cx="1828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4" name="TextBox 7"/>
          <p:cNvSpPr txBox="1"/>
          <p:nvPr/>
        </p:nvSpPr>
        <p:spPr>
          <a:xfrm>
            <a:off x="932737" y="2986892"/>
            <a:ext cx="164592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Predict 🔮</a:t>
            </a:r>
          </a:p>
        </p:txBody>
      </p:sp>
      <p:sp>
        <p:nvSpPr>
          <p:cNvPr id="145" name="TextBox 8"/>
          <p:cNvSpPr txBox="1"/>
          <p:nvPr/>
        </p:nvSpPr>
        <p:spPr>
          <a:xfrm>
            <a:off x="719663" y="3727303"/>
            <a:ext cx="1645921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Forecast future demand and consumption.</a:t>
            </a:r>
          </a:p>
        </p:txBody>
      </p:sp>
      <p:sp>
        <p:nvSpPr>
          <p:cNvPr id="146" name="Rounded Rectangle 9"/>
          <p:cNvSpPr/>
          <p:nvPr/>
        </p:nvSpPr>
        <p:spPr>
          <a:xfrm>
            <a:off x="2817210" y="2806596"/>
            <a:ext cx="2084833" cy="246888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147" name="TextBox 10"/>
          <p:cNvSpPr txBox="1"/>
          <p:nvPr/>
        </p:nvSpPr>
        <p:spPr>
          <a:xfrm>
            <a:off x="3031092" y="3042643"/>
            <a:ext cx="1828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7636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8" name="TextBox 11"/>
          <p:cNvSpPr txBox="1"/>
          <p:nvPr/>
        </p:nvSpPr>
        <p:spPr>
          <a:xfrm>
            <a:off x="3348753" y="2986892"/>
            <a:ext cx="164592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Detect 🚨</a:t>
            </a:r>
          </a:p>
        </p:txBody>
      </p:sp>
      <p:sp>
        <p:nvSpPr>
          <p:cNvPr id="149" name="TextBox 12"/>
          <p:cNvSpPr txBox="1"/>
          <p:nvPr/>
        </p:nvSpPr>
        <p:spPr>
          <a:xfrm>
            <a:off x="3027308" y="3663803"/>
            <a:ext cx="1645921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Identify stock-out, expiry and resource risks.</a:t>
            </a:r>
          </a:p>
        </p:txBody>
      </p:sp>
      <p:sp>
        <p:nvSpPr>
          <p:cNvPr id="150" name="Rounded Rectangle 13"/>
          <p:cNvSpPr/>
          <p:nvPr/>
        </p:nvSpPr>
        <p:spPr>
          <a:xfrm>
            <a:off x="5134214" y="2806596"/>
            <a:ext cx="2084832" cy="246888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151" name="TextBox 14"/>
          <p:cNvSpPr txBox="1"/>
          <p:nvPr/>
        </p:nvSpPr>
        <p:spPr>
          <a:xfrm>
            <a:off x="5315775" y="2986892"/>
            <a:ext cx="1828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52D38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2" name="TextBox 15"/>
          <p:cNvSpPr txBox="1"/>
          <p:nvPr/>
        </p:nvSpPr>
        <p:spPr>
          <a:xfrm>
            <a:off x="5620035" y="2942442"/>
            <a:ext cx="164592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Optimize 🔄</a:t>
            </a:r>
          </a:p>
        </p:txBody>
      </p:sp>
      <p:sp>
        <p:nvSpPr>
          <p:cNvPr id="153" name="TextBox 16"/>
          <p:cNvSpPr txBox="1"/>
          <p:nvPr/>
        </p:nvSpPr>
        <p:spPr>
          <a:xfrm>
            <a:off x="5339294" y="3511510"/>
            <a:ext cx="1645921" cy="148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 potential redistribution opportunities across facilities.</a:t>
            </a:r>
          </a:p>
        </p:txBody>
      </p:sp>
      <p:sp>
        <p:nvSpPr>
          <p:cNvPr id="154" name="Rounded Rectangle 17"/>
          <p:cNvSpPr/>
          <p:nvPr/>
        </p:nvSpPr>
        <p:spPr>
          <a:xfrm>
            <a:off x="7443859" y="2814077"/>
            <a:ext cx="2084832" cy="246888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155" name="TextBox 18"/>
          <p:cNvSpPr txBox="1"/>
          <p:nvPr/>
        </p:nvSpPr>
        <p:spPr>
          <a:xfrm>
            <a:off x="7657956" y="2986892"/>
            <a:ext cx="1828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6BE4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56" name="TextBox 19"/>
          <p:cNvSpPr txBox="1"/>
          <p:nvPr/>
        </p:nvSpPr>
        <p:spPr>
          <a:xfrm>
            <a:off x="7979185" y="2953743"/>
            <a:ext cx="164592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Simulate 🧪</a:t>
            </a:r>
          </a:p>
        </p:txBody>
      </p:sp>
      <p:sp>
        <p:nvSpPr>
          <p:cNvPr id="157" name="TextBox 20"/>
          <p:cNvSpPr txBox="1"/>
          <p:nvPr/>
        </p:nvSpPr>
        <p:spPr>
          <a:xfrm>
            <a:off x="7651280" y="3511510"/>
            <a:ext cx="1645921" cy="148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Model sudden demand increases and network impact.</a:t>
            </a:r>
          </a:p>
        </p:txBody>
      </p:sp>
      <p:sp>
        <p:nvSpPr>
          <p:cNvPr id="158" name="Rounded Rectangle 21"/>
          <p:cNvSpPr/>
          <p:nvPr/>
        </p:nvSpPr>
        <p:spPr>
          <a:xfrm>
            <a:off x="9768220" y="2806596"/>
            <a:ext cx="2084832" cy="246888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159" name="TextBox 22"/>
          <p:cNvSpPr txBox="1"/>
          <p:nvPr/>
        </p:nvSpPr>
        <p:spPr>
          <a:xfrm>
            <a:off x="9960925" y="2986892"/>
            <a:ext cx="1828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A57D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0" name="TextBox 23"/>
          <p:cNvSpPr txBox="1"/>
          <p:nvPr/>
        </p:nvSpPr>
        <p:spPr>
          <a:xfrm>
            <a:off x="10189904" y="2942442"/>
            <a:ext cx="164592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Explain 🧠</a:t>
            </a:r>
          </a:p>
        </p:txBody>
      </p:sp>
      <p:sp>
        <p:nvSpPr>
          <p:cNvPr id="161" name="TextBox 24"/>
          <p:cNvSpPr txBox="1"/>
          <p:nvPr/>
        </p:nvSpPr>
        <p:spPr>
          <a:xfrm>
            <a:off x="9960925" y="3447903"/>
            <a:ext cx="1645921" cy="148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 Google Gemini to explain outputs in natural language.</a:t>
            </a:r>
          </a:p>
        </p:txBody>
      </p:sp>
      <p:sp>
        <p:nvSpPr>
          <p:cNvPr id="162" name="Rounded Rectangle 25"/>
          <p:cNvSpPr/>
          <p:nvPr/>
        </p:nvSpPr>
        <p:spPr>
          <a:xfrm>
            <a:off x="969009" y="5428520"/>
            <a:ext cx="10241282" cy="749809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26"/>
          <p:cNvSpPr txBox="1"/>
          <p:nvPr/>
        </p:nvSpPr>
        <p:spPr>
          <a:xfrm>
            <a:off x="1225041" y="5629688"/>
            <a:ext cx="123444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CORE PROMISE</a:t>
            </a:r>
          </a:p>
        </p:txBody>
      </p:sp>
      <p:sp>
        <p:nvSpPr>
          <p:cNvPr id="164" name="TextBox 27"/>
          <p:cNvSpPr txBox="1"/>
          <p:nvPr/>
        </p:nvSpPr>
        <p:spPr>
          <a:xfrm>
            <a:off x="2596641" y="5583968"/>
            <a:ext cx="818388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Move from reactive shortage management to predictive resource planning.</a:t>
            </a:r>
          </a:p>
        </p:txBody>
      </p:sp>
      <p:sp>
        <p:nvSpPr>
          <p:cNvPr id="165" name="TextBox 28"/>
          <p:cNvSpPr txBox="1"/>
          <p:nvPr/>
        </p:nvSpPr>
        <p:spPr>
          <a:xfrm>
            <a:off x="548639" y="6510528"/>
            <a:ext cx="6766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Niramaya AI • Build With AI: Code for Communities 2.0</a:t>
            </a:r>
          </a:p>
        </p:txBody>
      </p:sp>
      <p:sp>
        <p:nvSpPr>
          <p:cNvPr id="166" name="TextBox 29"/>
          <p:cNvSpPr txBox="1"/>
          <p:nvPr/>
        </p:nvSpPr>
        <p:spPr>
          <a:xfrm>
            <a:off x="9418319" y="6510528"/>
            <a:ext cx="2194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Team Niramaya AI</a:t>
            </a:r>
          </a:p>
        </p:txBody>
      </p:sp>
      <p:sp>
        <p:nvSpPr>
          <p:cNvPr id="167" name="Google Shape;92;p19"/>
          <p:cNvSpPr txBox="1"/>
          <p:nvPr/>
        </p:nvSpPr>
        <p:spPr>
          <a:xfrm>
            <a:off x="1316497" y="403980"/>
            <a:ext cx="8784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defTabSz="914400">
              <a:defRPr b="1" sz="1500">
                <a:solidFill>
                  <a:srgbClr val="43434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Indore</a:t>
            </a:r>
          </a:p>
        </p:txBody>
      </p:sp>
      <p:pic>
        <p:nvPicPr>
          <p:cNvPr id="168" name="Google Shape;91;p19" descr="Google Shape;91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7506" y="104225"/>
            <a:ext cx="5022909" cy="649947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2"/>
          <p:cNvSpPr txBox="1"/>
          <p:nvPr/>
        </p:nvSpPr>
        <p:spPr>
          <a:xfrm>
            <a:off x="538627" y="524430"/>
            <a:ext cx="10652761" cy="4899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Google AI / AI Approach</a:t>
            </a:r>
          </a:p>
        </p:txBody>
      </p:sp>
      <p:sp>
        <p:nvSpPr>
          <p:cNvPr id="171" name="TextBox 3"/>
          <p:cNvSpPr txBox="1"/>
          <p:nvPr/>
        </p:nvSpPr>
        <p:spPr>
          <a:xfrm>
            <a:off x="710713" y="933205"/>
            <a:ext cx="10515601" cy="3330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AI That Predicts. Gemini That Explains.</a:t>
            </a:r>
          </a:p>
        </p:txBody>
      </p:sp>
      <p:sp>
        <p:nvSpPr>
          <p:cNvPr id="172" name="Rounded Rectangle 4"/>
          <p:cNvSpPr/>
          <p:nvPr/>
        </p:nvSpPr>
        <p:spPr>
          <a:xfrm>
            <a:off x="507238" y="1316387"/>
            <a:ext cx="5596129" cy="513892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73" name="Rectangle 5"/>
          <p:cNvSpPr/>
          <p:nvPr/>
        </p:nvSpPr>
        <p:spPr>
          <a:xfrm>
            <a:off x="507238" y="1316386"/>
            <a:ext cx="50293" cy="5138930"/>
          </a:xfrm>
          <a:prstGeom prst="rect">
            <a:avLst/>
          </a:prstGeom>
          <a:solidFill>
            <a:srgbClr val="42D3E8"/>
          </a:solidFill>
          <a:ln>
            <a:solidFill>
              <a:srgbClr val="42D3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74" name="TextBox 6"/>
          <p:cNvSpPr txBox="1"/>
          <p:nvPr/>
        </p:nvSpPr>
        <p:spPr>
          <a:xfrm>
            <a:off x="712978" y="1559410"/>
            <a:ext cx="5184649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🔮 Niramaya INTELLIGENCE ENGINES</a:t>
            </a:r>
          </a:p>
        </p:txBody>
      </p:sp>
      <p:sp>
        <p:nvSpPr>
          <p:cNvPr id="175" name="TextBox 7"/>
          <p:cNvSpPr txBox="1"/>
          <p:nvPr/>
        </p:nvSpPr>
        <p:spPr>
          <a:xfrm>
            <a:off x="717550" y="2011331"/>
            <a:ext cx="5184649" cy="397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1. Demand Forecasting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Predict future medicine/resource consumption.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2. Stock-out Prediction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Estimate coverage and projected shortage risk.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3. Redistribution Optimizer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Rank potential facility matches using surplus, forecast demand, urgency, distance and quantity.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4. Expiry Intelligence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Identify inventory approaching expiry and flag it for review.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5. Emergency Demand Simulator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Test demand-surge scenarios and recalculate network risk.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Additional: Equipment Intelligence for downtime and maintenance-risk prioritization.</a:t>
            </a:r>
          </a:p>
        </p:txBody>
      </p:sp>
      <p:sp>
        <p:nvSpPr>
          <p:cNvPr id="176" name="Rounded Rectangle 8"/>
          <p:cNvSpPr/>
          <p:nvPr/>
        </p:nvSpPr>
        <p:spPr>
          <a:xfrm>
            <a:off x="6295390" y="1316387"/>
            <a:ext cx="5376672" cy="513892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77" name="Rectangle 9"/>
          <p:cNvSpPr/>
          <p:nvPr/>
        </p:nvSpPr>
        <p:spPr>
          <a:xfrm>
            <a:off x="6295390" y="1316386"/>
            <a:ext cx="50293" cy="5138930"/>
          </a:xfrm>
          <a:prstGeom prst="rect">
            <a:avLst/>
          </a:prstGeom>
          <a:solidFill>
            <a:srgbClr val="A57DFF"/>
          </a:solidFill>
          <a:ln>
            <a:solidFill>
              <a:srgbClr val="A57D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78" name="TextBox 10"/>
          <p:cNvSpPr txBox="1"/>
          <p:nvPr/>
        </p:nvSpPr>
        <p:spPr>
          <a:xfrm>
            <a:off x="6532943" y="1603860"/>
            <a:ext cx="496519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🧠 GOOGLE GEMINI — INTELLIGENCE LAYER</a:t>
            </a:r>
          </a:p>
        </p:txBody>
      </p:sp>
      <p:sp>
        <p:nvSpPr>
          <p:cNvPr id="179" name="TextBox 11"/>
          <p:cNvSpPr txBox="1"/>
          <p:nvPr/>
        </p:nvSpPr>
        <p:spPr>
          <a:xfrm>
            <a:off x="6501129" y="2069979"/>
            <a:ext cx="4965193" cy="4149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Google Gemini adds a natural-language layer on top of the predictive system: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💬 Explain predictions and recommendations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🌐 Multilingual assistance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📊 District-level summaries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🔎 Natural-language queries over authorized platform data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🧠 Explain model outputs in simple language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Example: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“Why is Facility B at high risk?”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ML identifies the risk → Gemini explains the evidence and model output → authorized human decides.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Google AI integration is a functional part of the product, not just a chatbot add-on.</a:t>
            </a:r>
          </a:p>
        </p:txBody>
      </p:sp>
      <p:sp>
        <p:nvSpPr>
          <p:cNvPr id="180" name="TextBox 12"/>
          <p:cNvSpPr txBox="1"/>
          <p:nvPr/>
        </p:nvSpPr>
        <p:spPr>
          <a:xfrm>
            <a:off x="548639" y="6510528"/>
            <a:ext cx="6766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Niramaya AI • Build With AI: Code for Communities 2.0</a:t>
            </a:r>
          </a:p>
        </p:txBody>
      </p:sp>
      <p:sp>
        <p:nvSpPr>
          <p:cNvPr id="181" name="TextBox 13"/>
          <p:cNvSpPr txBox="1"/>
          <p:nvPr/>
        </p:nvSpPr>
        <p:spPr>
          <a:xfrm>
            <a:off x="9418319" y="6510528"/>
            <a:ext cx="2194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Team Niramaya AI</a:t>
            </a:r>
          </a:p>
        </p:txBody>
      </p:sp>
      <p:sp>
        <p:nvSpPr>
          <p:cNvPr id="182" name="Google Shape;92;p19"/>
          <p:cNvSpPr txBox="1"/>
          <p:nvPr/>
        </p:nvSpPr>
        <p:spPr>
          <a:xfrm>
            <a:off x="979583" y="230718"/>
            <a:ext cx="8784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defTabSz="914400">
              <a:defRPr b="1" sz="1500">
                <a:solidFill>
                  <a:srgbClr val="43434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Indore</a:t>
            </a:r>
          </a:p>
        </p:txBody>
      </p:sp>
      <p:pic>
        <p:nvPicPr>
          <p:cNvPr id="183" name="Google Shape;91;p19" descr="Google Shape;91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97" y="51522"/>
            <a:ext cx="4203971" cy="5439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2"/>
          <p:cNvSpPr txBox="1"/>
          <p:nvPr/>
        </p:nvSpPr>
        <p:spPr>
          <a:xfrm>
            <a:off x="649316" y="1014323"/>
            <a:ext cx="10652761" cy="4899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Target Users &amp; Who It Serves</a:t>
            </a:r>
          </a:p>
        </p:txBody>
      </p:sp>
      <p:sp>
        <p:nvSpPr>
          <p:cNvPr id="186" name="Rounded Rectangle 3"/>
          <p:cNvSpPr/>
          <p:nvPr/>
        </p:nvSpPr>
        <p:spPr>
          <a:xfrm>
            <a:off x="534669" y="1625748"/>
            <a:ext cx="3657601" cy="457200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187" name="Rectangle 4"/>
          <p:cNvSpPr/>
          <p:nvPr/>
        </p:nvSpPr>
        <p:spPr>
          <a:xfrm>
            <a:off x="534669" y="1625748"/>
            <a:ext cx="50293" cy="4572001"/>
          </a:xfrm>
          <a:prstGeom prst="rect">
            <a:avLst/>
          </a:prstGeom>
          <a:solidFill>
            <a:srgbClr val="42D3E8"/>
          </a:solidFill>
          <a:ln>
            <a:solidFill>
              <a:srgbClr val="42D3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188" name="TextBox 5"/>
          <p:cNvSpPr txBox="1"/>
          <p:nvPr/>
        </p:nvSpPr>
        <p:spPr>
          <a:xfrm>
            <a:off x="744981" y="1753764"/>
            <a:ext cx="3246121" cy="904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🏛️ PRIMARY USERS — GOVERNMENT HEALTH ADMINISTRATION</a:t>
            </a:r>
          </a:p>
        </p:txBody>
      </p:sp>
      <p:sp>
        <p:nvSpPr>
          <p:cNvPr id="189" name="TextBox 6"/>
          <p:cNvSpPr txBox="1"/>
          <p:nvPr/>
        </p:nvSpPr>
        <p:spPr>
          <a:xfrm>
            <a:off x="744982" y="2618487"/>
            <a:ext cx="3246120" cy="306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State health authorities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District health administration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Authorized planning/procurement teams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Authorized decision-makers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exact controlling authority can vary by facility type and government structure.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Niramaya provides role-based dashboards instead of assuming one universal administrator.</a:t>
            </a:r>
          </a:p>
        </p:txBody>
      </p:sp>
      <p:sp>
        <p:nvSpPr>
          <p:cNvPr id="190" name="Rounded Rectangle 7"/>
          <p:cNvSpPr/>
          <p:nvPr/>
        </p:nvSpPr>
        <p:spPr>
          <a:xfrm>
            <a:off x="4375150" y="1625748"/>
            <a:ext cx="3429000" cy="457200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191" name="Rectangle 8"/>
          <p:cNvSpPr/>
          <p:nvPr/>
        </p:nvSpPr>
        <p:spPr>
          <a:xfrm>
            <a:off x="4375150" y="1625748"/>
            <a:ext cx="50293" cy="4572001"/>
          </a:xfrm>
          <a:prstGeom prst="rect">
            <a:avLst/>
          </a:prstGeom>
          <a:solidFill>
            <a:srgbClr val="52D38F"/>
          </a:solidFill>
          <a:ln>
            <a:solidFill>
              <a:srgbClr val="52D38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192" name="TextBox 9"/>
          <p:cNvSpPr txBox="1"/>
          <p:nvPr/>
        </p:nvSpPr>
        <p:spPr>
          <a:xfrm>
            <a:off x="4585208" y="1891773"/>
            <a:ext cx="301752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🏥 OPERATIONAL USERS</a:t>
            </a:r>
          </a:p>
        </p:txBody>
      </p:sp>
      <p:sp>
        <p:nvSpPr>
          <p:cNvPr id="193" name="TextBox 10"/>
          <p:cNvSpPr txBox="1"/>
          <p:nvPr/>
        </p:nvSpPr>
        <p:spPr>
          <a:xfrm>
            <a:off x="4603559" y="2457477"/>
            <a:ext cx="3017521" cy="21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District Hospitals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Civil Hospitals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CHCs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PHCs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Authorized store/pharmacy staff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Equipment &amp; maintenance staff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Users see only the operational information relevant to their role.</a:t>
            </a:r>
          </a:p>
        </p:txBody>
      </p:sp>
      <p:sp>
        <p:nvSpPr>
          <p:cNvPr id="194" name="Rounded Rectangle 11"/>
          <p:cNvSpPr/>
          <p:nvPr/>
        </p:nvSpPr>
        <p:spPr>
          <a:xfrm>
            <a:off x="7987030" y="1625748"/>
            <a:ext cx="3657601" cy="457200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195" name="Rectangle 12"/>
          <p:cNvSpPr/>
          <p:nvPr/>
        </p:nvSpPr>
        <p:spPr>
          <a:xfrm>
            <a:off x="7987030" y="1625748"/>
            <a:ext cx="50293" cy="4572001"/>
          </a:xfrm>
          <a:prstGeom prst="rect">
            <a:avLst/>
          </a:prstGeom>
          <a:solidFill>
            <a:srgbClr val="A57DFF"/>
          </a:solidFill>
          <a:ln>
            <a:solidFill>
              <a:srgbClr val="A57D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196" name="TextBox 13"/>
          <p:cNvSpPr txBox="1"/>
          <p:nvPr/>
        </p:nvSpPr>
        <p:spPr>
          <a:xfrm>
            <a:off x="8197088" y="1891773"/>
            <a:ext cx="324612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👨‍👩‍👧 BENEFICIARIES — CITIZENS</a:t>
            </a:r>
          </a:p>
        </p:txBody>
      </p:sp>
      <p:sp>
        <p:nvSpPr>
          <p:cNvPr id="197" name="TextBox 14"/>
          <p:cNvSpPr txBox="1"/>
          <p:nvPr/>
        </p:nvSpPr>
        <p:spPr>
          <a:xfrm>
            <a:off x="8215439" y="2433692"/>
            <a:ext cx="3246120" cy="306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Citizen layer is public-facing and separate from internal supply-chain controls.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Find nearby government facilities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Discover available public services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Navigation support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Multilingual assistance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Optional public health chatbot</a:t>
            </a: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Citizens do not receive access to confidential internal inventory or administrative data.</a:t>
            </a:r>
          </a:p>
        </p:txBody>
      </p:sp>
      <p:sp>
        <p:nvSpPr>
          <p:cNvPr id="198" name="TextBox 15"/>
          <p:cNvSpPr txBox="1"/>
          <p:nvPr/>
        </p:nvSpPr>
        <p:spPr>
          <a:xfrm>
            <a:off x="827277" y="6426348"/>
            <a:ext cx="10607042" cy="259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Administration → better decisions     Facilities → better planning     Citizens → better access</a:t>
            </a:r>
          </a:p>
        </p:txBody>
      </p:sp>
      <p:sp>
        <p:nvSpPr>
          <p:cNvPr id="199" name="TextBox 16"/>
          <p:cNvSpPr txBox="1"/>
          <p:nvPr/>
        </p:nvSpPr>
        <p:spPr>
          <a:xfrm>
            <a:off x="548639" y="6510528"/>
            <a:ext cx="6766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Niramaya AI • Build With AI: Code for Communities 2.0</a:t>
            </a:r>
          </a:p>
        </p:txBody>
      </p:sp>
      <p:sp>
        <p:nvSpPr>
          <p:cNvPr id="200" name="TextBox 17"/>
          <p:cNvSpPr txBox="1"/>
          <p:nvPr/>
        </p:nvSpPr>
        <p:spPr>
          <a:xfrm>
            <a:off x="9418319" y="6510528"/>
            <a:ext cx="21945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Team Niramaya AI</a:t>
            </a:r>
          </a:p>
        </p:txBody>
      </p:sp>
      <p:sp>
        <p:nvSpPr>
          <p:cNvPr id="201" name="Google Shape;92;p19"/>
          <p:cNvSpPr txBox="1"/>
          <p:nvPr/>
        </p:nvSpPr>
        <p:spPr>
          <a:xfrm>
            <a:off x="1324605" y="517885"/>
            <a:ext cx="8784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defTabSz="914400">
              <a:defRPr b="1" sz="1500">
                <a:solidFill>
                  <a:srgbClr val="43434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Indore</a:t>
            </a:r>
          </a:p>
        </p:txBody>
      </p:sp>
      <p:pic>
        <p:nvPicPr>
          <p:cNvPr id="202" name="Google Shape;91;p19" descr="Google Shape;91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6511" y="149884"/>
            <a:ext cx="5022908" cy="649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2"/>
          <p:cNvSpPr txBox="1"/>
          <p:nvPr/>
        </p:nvSpPr>
        <p:spPr>
          <a:xfrm>
            <a:off x="655849" y="1027151"/>
            <a:ext cx="10652761" cy="4899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Key Features &amp; Innovation</a:t>
            </a:r>
          </a:p>
        </p:txBody>
      </p:sp>
      <p:sp>
        <p:nvSpPr>
          <p:cNvPr id="205" name="TextBox 3"/>
          <p:cNvSpPr txBox="1"/>
          <p:nvPr/>
        </p:nvSpPr>
        <p:spPr>
          <a:xfrm>
            <a:off x="724429" y="1517583"/>
            <a:ext cx="1051560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From Alerts to Action</a:t>
            </a:r>
          </a:p>
        </p:txBody>
      </p:sp>
      <p:sp>
        <p:nvSpPr>
          <p:cNvPr id="206" name="Rounded Rectangle 4"/>
          <p:cNvSpPr/>
          <p:nvPr/>
        </p:nvSpPr>
        <p:spPr>
          <a:xfrm>
            <a:off x="520953" y="1928583"/>
            <a:ext cx="3493009" cy="1572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07" name="Rectangle 5"/>
          <p:cNvSpPr/>
          <p:nvPr/>
        </p:nvSpPr>
        <p:spPr>
          <a:xfrm>
            <a:off x="520953" y="1928583"/>
            <a:ext cx="50293" cy="1572769"/>
          </a:xfrm>
          <a:prstGeom prst="rect">
            <a:avLst/>
          </a:prstGeom>
          <a:solidFill>
            <a:srgbClr val="42D3E8"/>
          </a:solidFill>
          <a:ln>
            <a:solidFill>
              <a:srgbClr val="42D3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08" name="TextBox 6"/>
          <p:cNvSpPr txBox="1"/>
          <p:nvPr/>
        </p:nvSpPr>
        <p:spPr>
          <a:xfrm>
            <a:off x="731265" y="2056599"/>
            <a:ext cx="308152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🔮 PREDICT</a:t>
            </a:r>
          </a:p>
        </p:txBody>
      </p:sp>
      <p:sp>
        <p:nvSpPr>
          <p:cNvPr id="209" name="TextBox 7"/>
          <p:cNvSpPr txBox="1"/>
          <p:nvPr/>
        </p:nvSpPr>
        <p:spPr>
          <a:xfrm>
            <a:off x="731265" y="2449790"/>
            <a:ext cx="3081529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Estimate future consumption before stock becomes critical.</a:t>
            </a:r>
          </a:p>
        </p:txBody>
      </p:sp>
      <p:sp>
        <p:nvSpPr>
          <p:cNvPr id="210" name="Rounded Rectangle 8"/>
          <p:cNvSpPr/>
          <p:nvPr/>
        </p:nvSpPr>
        <p:spPr>
          <a:xfrm>
            <a:off x="4343145" y="1928583"/>
            <a:ext cx="3493009" cy="1572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11" name="Rectangle 9"/>
          <p:cNvSpPr/>
          <p:nvPr/>
        </p:nvSpPr>
        <p:spPr>
          <a:xfrm>
            <a:off x="4343145" y="1928583"/>
            <a:ext cx="50293" cy="1572769"/>
          </a:xfrm>
          <a:prstGeom prst="rect">
            <a:avLst/>
          </a:prstGeom>
          <a:solidFill>
            <a:srgbClr val="F76367"/>
          </a:solidFill>
          <a:ln>
            <a:solidFill>
              <a:srgbClr val="F7636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12" name="TextBox 10"/>
          <p:cNvSpPr txBox="1"/>
          <p:nvPr/>
        </p:nvSpPr>
        <p:spPr>
          <a:xfrm>
            <a:off x="4553456" y="2056599"/>
            <a:ext cx="308152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🚨 PREVENT</a:t>
            </a:r>
          </a:p>
        </p:txBody>
      </p:sp>
      <p:sp>
        <p:nvSpPr>
          <p:cNvPr id="213" name="TextBox 11"/>
          <p:cNvSpPr txBox="1"/>
          <p:nvPr/>
        </p:nvSpPr>
        <p:spPr>
          <a:xfrm>
            <a:off x="4553456" y="2449790"/>
            <a:ext cx="3081529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Identify resources that may require intervention.</a:t>
            </a:r>
          </a:p>
        </p:txBody>
      </p:sp>
      <p:sp>
        <p:nvSpPr>
          <p:cNvPr id="214" name="Rounded Rectangle 12"/>
          <p:cNvSpPr/>
          <p:nvPr/>
        </p:nvSpPr>
        <p:spPr>
          <a:xfrm>
            <a:off x="8165338" y="1928583"/>
            <a:ext cx="3493009" cy="1572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15" name="Rectangle 13"/>
          <p:cNvSpPr/>
          <p:nvPr/>
        </p:nvSpPr>
        <p:spPr>
          <a:xfrm>
            <a:off x="8165338" y="1928583"/>
            <a:ext cx="50293" cy="1572769"/>
          </a:xfrm>
          <a:prstGeom prst="rect">
            <a:avLst/>
          </a:prstGeom>
          <a:solidFill>
            <a:srgbClr val="52D38F"/>
          </a:solidFill>
          <a:ln>
            <a:solidFill>
              <a:srgbClr val="52D38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16" name="TextBox 14"/>
          <p:cNvSpPr txBox="1"/>
          <p:nvPr/>
        </p:nvSpPr>
        <p:spPr>
          <a:xfrm>
            <a:off x="8375649" y="2056599"/>
            <a:ext cx="308152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🔄 OPTIMIZE</a:t>
            </a:r>
          </a:p>
        </p:txBody>
      </p:sp>
      <p:sp>
        <p:nvSpPr>
          <p:cNvPr id="217" name="TextBox 15"/>
          <p:cNvSpPr txBox="1"/>
          <p:nvPr/>
        </p:nvSpPr>
        <p:spPr>
          <a:xfrm>
            <a:off x="8375649" y="2449790"/>
            <a:ext cx="3081529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Rank potential surplus-to-demand matches.</a:t>
            </a:r>
          </a:p>
        </p:txBody>
      </p:sp>
      <p:sp>
        <p:nvSpPr>
          <p:cNvPr id="218" name="Rounded Rectangle 16"/>
          <p:cNvSpPr/>
          <p:nvPr/>
        </p:nvSpPr>
        <p:spPr>
          <a:xfrm>
            <a:off x="520953" y="3784815"/>
            <a:ext cx="3493009" cy="1572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19" name="Rectangle 17"/>
          <p:cNvSpPr/>
          <p:nvPr/>
        </p:nvSpPr>
        <p:spPr>
          <a:xfrm>
            <a:off x="520953" y="3784815"/>
            <a:ext cx="50293" cy="1572769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20" name="TextBox 18"/>
          <p:cNvSpPr txBox="1"/>
          <p:nvPr/>
        </p:nvSpPr>
        <p:spPr>
          <a:xfrm>
            <a:off x="731265" y="3912831"/>
            <a:ext cx="308152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🧪 SIMULATE</a:t>
            </a:r>
          </a:p>
        </p:txBody>
      </p:sp>
      <p:sp>
        <p:nvSpPr>
          <p:cNvPr id="221" name="TextBox 19"/>
          <p:cNvSpPr txBox="1"/>
          <p:nvPr/>
        </p:nvSpPr>
        <p:spPr>
          <a:xfrm>
            <a:off x="731265" y="4306022"/>
            <a:ext cx="3081529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Estimate network impact of sudden demand increases.</a:t>
            </a:r>
          </a:p>
        </p:txBody>
      </p:sp>
      <p:sp>
        <p:nvSpPr>
          <p:cNvPr id="222" name="Rounded Rectangle 20"/>
          <p:cNvSpPr/>
          <p:nvPr/>
        </p:nvSpPr>
        <p:spPr>
          <a:xfrm>
            <a:off x="4343145" y="3784815"/>
            <a:ext cx="3493009" cy="1572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23" name="Rectangle 21"/>
          <p:cNvSpPr/>
          <p:nvPr/>
        </p:nvSpPr>
        <p:spPr>
          <a:xfrm>
            <a:off x="4343145" y="3784815"/>
            <a:ext cx="50293" cy="1572769"/>
          </a:xfrm>
          <a:prstGeom prst="rect">
            <a:avLst/>
          </a:prstGeom>
          <a:solidFill>
            <a:srgbClr val="A57DFF"/>
          </a:solidFill>
          <a:ln>
            <a:solidFill>
              <a:srgbClr val="A57D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24" name="TextBox 22"/>
          <p:cNvSpPr txBox="1"/>
          <p:nvPr/>
        </p:nvSpPr>
        <p:spPr>
          <a:xfrm>
            <a:off x="4553456" y="3912831"/>
            <a:ext cx="308152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🧠 EXPLAIN</a:t>
            </a:r>
          </a:p>
        </p:txBody>
      </p:sp>
      <p:sp>
        <p:nvSpPr>
          <p:cNvPr id="225" name="TextBox 23"/>
          <p:cNvSpPr txBox="1"/>
          <p:nvPr/>
        </p:nvSpPr>
        <p:spPr>
          <a:xfrm>
            <a:off x="4553456" y="4306022"/>
            <a:ext cx="3081529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Turn model outputs into understandable, multilingual explanations.</a:t>
            </a:r>
          </a:p>
        </p:txBody>
      </p:sp>
      <p:sp>
        <p:nvSpPr>
          <p:cNvPr id="226" name="Rounded Rectangle 24"/>
          <p:cNvSpPr/>
          <p:nvPr/>
        </p:nvSpPr>
        <p:spPr>
          <a:xfrm>
            <a:off x="8165338" y="3784815"/>
            <a:ext cx="3493009" cy="1572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27" name="Rectangle 25"/>
          <p:cNvSpPr/>
          <p:nvPr/>
        </p:nvSpPr>
        <p:spPr>
          <a:xfrm>
            <a:off x="8165338" y="3784815"/>
            <a:ext cx="50293" cy="1572769"/>
          </a:xfrm>
          <a:prstGeom prst="rect">
            <a:avLst/>
          </a:prstGeom>
          <a:solidFill>
            <a:srgbClr val="42D3E8"/>
          </a:solidFill>
          <a:ln>
            <a:solidFill>
              <a:srgbClr val="42D3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28" name="TextBox 26"/>
          <p:cNvSpPr txBox="1"/>
          <p:nvPr/>
        </p:nvSpPr>
        <p:spPr>
          <a:xfrm>
            <a:off x="8375649" y="3912831"/>
            <a:ext cx="308152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🏥 PRIORITIZE</a:t>
            </a:r>
          </a:p>
        </p:txBody>
      </p:sp>
      <p:sp>
        <p:nvSpPr>
          <p:cNvPr id="229" name="TextBox 27"/>
          <p:cNvSpPr txBox="1"/>
          <p:nvPr/>
        </p:nvSpPr>
        <p:spPr>
          <a:xfrm>
            <a:off x="8375649" y="4306022"/>
            <a:ext cx="3081529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Highlight downtime, maintenance and critical-resource risks.</a:t>
            </a:r>
          </a:p>
        </p:txBody>
      </p:sp>
      <p:sp>
        <p:nvSpPr>
          <p:cNvPr id="230" name="Rounded Rectangle 28"/>
          <p:cNvSpPr/>
          <p:nvPr/>
        </p:nvSpPr>
        <p:spPr>
          <a:xfrm>
            <a:off x="808990" y="5515812"/>
            <a:ext cx="10561320" cy="713233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31" name="TextBox 29"/>
          <p:cNvSpPr txBox="1"/>
          <p:nvPr/>
        </p:nvSpPr>
        <p:spPr>
          <a:xfrm>
            <a:off x="910798" y="5598109"/>
            <a:ext cx="180450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OUR DIFFERENTIATOR</a:t>
            </a:r>
          </a:p>
        </p:txBody>
      </p:sp>
      <p:sp>
        <p:nvSpPr>
          <p:cNvPr id="232" name="TextBox 30"/>
          <p:cNvSpPr txBox="1"/>
          <p:nvPr/>
        </p:nvSpPr>
        <p:spPr>
          <a:xfrm>
            <a:off x="2683510" y="5662117"/>
            <a:ext cx="8275320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Niramaya doesn't just show what is happening — it estimates what may happen next, tests “what-if” scenarios, and recommends possible actions.</a:t>
            </a:r>
          </a:p>
        </p:txBody>
      </p:sp>
      <p:sp>
        <p:nvSpPr>
          <p:cNvPr id="233" name="TextBox 31"/>
          <p:cNvSpPr txBox="1"/>
          <p:nvPr/>
        </p:nvSpPr>
        <p:spPr>
          <a:xfrm>
            <a:off x="548639" y="6510528"/>
            <a:ext cx="6766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Niramaya AI • Build With AI: Code for Communities 2.0</a:t>
            </a:r>
          </a:p>
        </p:txBody>
      </p:sp>
      <p:sp>
        <p:nvSpPr>
          <p:cNvPr id="234" name="TextBox 32"/>
          <p:cNvSpPr txBox="1"/>
          <p:nvPr/>
        </p:nvSpPr>
        <p:spPr>
          <a:xfrm>
            <a:off x="9418319" y="6510528"/>
            <a:ext cx="2194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Team Niramaya AI</a:t>
            </a:r>
          </a:p>
        </p:txBody>
      </p:sp>
      <p:sp>
        <p:nvSpPr>
          <p:cNvPr id="235" name="Google Shape;92;p19"/>
          <p:cNvSpPr txBox="1"/>
          <p:nvPr/>
        </p:nvSpPr>
        <p:spPr>
          <a:xfrm>
            <a:off x="1324605" y="517885"/>
            <a:ext cx="8784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defTabSz="914400">
              <a:defRPr b="1" sz="1500">
                <a:solidFill>
                  <a:srgbClr val="43434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Indore</a:t>
            </a:r>
          </a:p>
        </p:txBody>
      </p:sp>
      <p:pic>
        <p:nvPicPr>
          <p:cNvPr id="236" name="Google Shape;91;p19" descr="Google Shape;91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6511" y="149884"/>
            <a:ext cx="5022908" cy="649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Box 2"/>
          <p:cNvSpPr txBox="1"/>
          <p:nvPr/>
        </p:nvSpPr>
        <p:spPr>
          <a:xfrm>
            <a:off x="594359" y="86699"/>
            <a:ext cx="10652761" cy="4899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How the Solution Works</a:t>
            </a:r>
          </a:p>
        </p:txBody>
      </p:sp>
      <p:sp>
        <p:nvSpPr>
          <p:cNvPr id="239" name="TextBox 3"/>
          <p:cNvSpPr txBox="1"/>
          <p:nvPr/>
        </p:nvSpPr>
        <p:spPr>
          <a:xfrm>
            <a:off x="571499" y="502965"/>
            <a:ext cx="1051560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MediGuard Intelligence Pipeline — Data → Intelligence → Decision → Action</a:t>
            </a:r>
          </a:p>
        </p:txBody>
      </p:sp>
      <p:sp>
        <p:nvSpPr>
          <p:cNvPr id="240" name="Rounded Rectangle 4"/>
          <p:cNvSpPr/>
          <p:nvPr/>
        </p:nvSpPr>
        <p:spPr>
          <a:xfrm>
            <a:off x="475487" y="1078991"/>
            <a:ext cx="2880362" cy="5303522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</a:p>
        </p:txBody>
      </p:sp>
      <p:sp>
        <p:nvSpPr>
          <p:cNvPr id="241" name="TextBox 5"/>
          <p:cNvSpPr txBox="1"/>
          <p:nvPr/>
        </p:nvSpPr>
        <p:spPr>
          <a:xfrm>
            <a:off x="643944" y="1263650"/>
            <a:ext cx="2304289" cy="523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EXAMPLE: PREVENTING A STOCK-OUT</a:t>
            </a:r>
          </a:p>
        </p:txBody>
      </p:sp>
      <p:sp>
        <p:nvSpPr>
          <p:cNvPr id="242" name="TextBox 6"/>
          <p:cNvSpPr txBox="1"/>
          <p:nvPr/>
        </p:nvSpPr>
        <p:spPr>
          <a:xfrm>
            <a:off x="644842" y="1793063"/>
            <a:ext cx="2514601" cy="419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1.  Low stock detected</a:t>
            </a:r>
          </a:p>
          <a:p>
            <a:pPr lvl="1"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↓</a:t>
            </a:r>
          </a:p>
          <a:p>
            <a:pPr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2.  Forecast estimates future consumption</a:t>
            </a:r>
          </a:p>
          <a:p>
            <a:pPr lvl="1"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↓</a:t>
            </a:r>
          </a:p>
          <a:p>
            <a:pPr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3.  Stock-out risk predicted in 4 days</a:t>
            </a:r>
          </a:p>
          <a:p>
            <a:pPr lvl="1"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↓</a:t>
            </a:r>
          </a:p>
          <a:p>
            <a:pPr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4.  Optimizer checks eligible facilities for potential surplus</a:t>
            </a:r>
          </a:p>
          <a:p>
            <a:pPr lvl="1"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↓</a:t>
            </a:r>
          </a:p>
          <a:p>
            <a:pPr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5.  Recommendation generated with reasons</a:t>
            </a:r>
          </a:p>
          <a:p>
            <a:pPr lvl="1"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↓</a:t>
            </a:r>
          </a:p>
          <a:p>
            <a:pPr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6.  Authorized officer approves / rejects</a:t>
            </a:r>
          </a:p>
          <a:p>
            <a:pPr lvl="1"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↓</a:t>
            </a:r>
          </a:p>
          <a:p>
            <a:pPr>
              <a:defRPr b="1"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7.  Decision + action logged</a:t>
            </a:r>
          </a:p>
        </p:txBody>
      </p:sp>
      <p:sp>
        <p:nvSpPr>
          <p:cNvPr id="243" name="Rounded Rectangle 7"/>
          <p:cNvSpPr/>
          <p:nvPr/>
        </p:nvSpPr>
        <p:spPr>
          <a:xfrm>
            <a:off x="3794759" y="874235"/>
            <a:ext cx="4251961" cy="39319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44" name="TextBox 8"/>
          <p:cNvSpPr txBox="1"/>
          <p:nvPr/>
        </p:nvSpPr>
        <p:spPr>
          <a:xfrm>
            <a:off x="3886200" y="924559"/>
            <a:ext cx="388620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Facility / Authorized Data</a:t>
            </a:r>
          </a:p>
        </p:txBody>
      </p:sp>
      <p:sp>
        <p:nvSpPr>
          <p:cNvPr id="245" name="TextBox 9"/>
          <p:cNvSpPr txBox="1"/>
          <p:nvPr/>
        </p:nvSpPr>
        <p:spPr>
          <a:xfrm>
            <a:off x="5760720" y="1266225"/>
            <a:ext cx="137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46" name="Rounded Rectangle 10"/>
          <p:cNvSpPr/>
          <p:nvPr/>
        </p:nvSpPr>
        <p:spPr>
          <a:xfrm>
            <a:off x="3799523" y="1535277"/>
            <a:ext cx="4251961" cy="393193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47" name="TextBox 11"/>
          <p:cNvSpPr txBox="1"/>
          <p:nvPr/>
        </p:nvSpPr>
        <p:spPr>
          <a:xfrm>
            <a:off x="3933852" y="1576069"/>
            <a:ext cx="388620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Integration Adapters</a:t>
            </a:r>
          </a:p>
        </p:txBody>
      </p:sp>
      <p:sp>
        <p:nvSpPr>
          <p:cNvPr id="248" name="TextBox 12"/>
          <p:cNvSpPr txBox="1"/>
          <p:nvPr/>
        </p:nvSpPr>
        <p:spPr>
          <a:xfrm>
            <a:off x="5760720" y="1937948"/>
            <a:ext cx="137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49" name="Rounded Rectangle 13"/>
          <p:cNvSpPr/>
          <p:nvPr/>
        </p:nvSpPr>
        <p:spPr>
          <a:xfrm>
            <a:off x="3799523" y="2211208"/>
            <a:ext cx="4251961" cy="39319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50" name="TextBox 14"/>
          <p:cNvSpPr txBox="1"/>
          <p:nvPr/>
        </p:nvSpPr>
        <p:spPr>
          <a:xfrm>
            <a:off x="3886200" y="2275840"/>
            <a:ext cx="388620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Common Data Model</a:t>
            </a:r>
          </a:p>
        </p:txBody>
      </p:sp>
      <p:sp>
        <p:nvSpPr>
          <p:cNvPr id="251" name="TextBox 15"/>
          <p:cNvSpPr txBox="1"/>
          <p:nvPr/>
        </p:nvSpPr>
        <p:spPr>
          <a:xfrm>
            <a:off x="5760720" y="2560320"/>
            <a:ext cx="137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52" name="Rounded Rectangle 16"/>
          <p:cNvSpPr/>
          <p:nvPr/>
        </p:nvSpPr>
        <p:spPr>
          <a:xfrm>
            <a:off x="3799523" y="2825686"/>
            <a:ext cx="4251961" cy="393193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53" name="TextBox 17"/>
          <p:cNvSpPr txBox="1"/>
          <p:nvPr/>
        </p:nvSpPr>
        <p:spPr>
          <a:xfrm>
            <a:off x="3977640" y="2896226"/>
            <a:ext cx="388619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Operational Database</a:t>
            </a:r>
          </a:p>
        </p:txBody>
      </p:sp>
      <p:sp>
        <p:nvSpPr>
          <p:cNvPr id="254" name="TextBox 18"/>
          <p:cNvSpPr txBox="1"/>
          <p:nvPr/>
        </p:nvSpPr>
        <p:spPr>
          <a:xfrm>
            <a:off x="5760720" y="3165558"/>
            <a:ext cx="137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55" name="Rounded Rectangle 19"/>
          <p:cNvSpPr/>
          <p:nvPr/>
        </p:nvSpPr>
        <p:spPr>
          <a:xfrm>
            <a:off x="3799523" y="3418701"/>
            <a:ext cx="4251961" cy="39319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56" name="TextBox 20"/>
          <p:cNvSpPr txBox="1"/>
          <p:nvPr/>
        </p:nvSpPr>
        <p:spPr>
          <a:xfrm>
            <a:off x="3977640" y="3504533"/>
            <a:ext cx="388619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 AI Intelligence Engines</a:t>
            </a:r>
          </a:p>
        </p:txBody>
      </p:sp>
      <p:sp>
        <p:nvSpPr>
          <p:cNvPr id="257" name="TextBox 21"/>
          <p:cNvSpPr txBox="1"/>
          <p:nvPr/>
        </p:nvSpPr>
        <p:spPr>
          <a:xfrm>
            <a:off x="5760720" y="3759668"/>
            <a:ext cx="137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58" name="Rounded Rectangle 22"/>
          <p:cNvSpPr/>
          <p:nvPr/>
        </p:nvSpPr>
        <p:spPr>
          <a:xfrm>
            <a:off x="3794759" y="4014597"/>
            <a:ext cx="4251961" cy="393193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59" name="TextBox 23"/>
          <p:cNvSpPr txBox="1"/>
          <p:nvPr/>
        </p:nvSpPr>
        <p:spPr>
          <a:xfrm>
            <a:off x="3982403" y="4097115"/>
            <a:ext cx="388620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A57D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Google Gemini Layer</a:t>
            </a:r>
          </a:p>
        </p:txBody>
      </p:sp>
      <p:sp>
        <p:nvSpPr>
          <p:cNvPr id="260" name="TextBox 24"/>
          <p:cNvSpPr txBox="1"/>
          <p:nvPr/>
        </p:nvSpPr>
        <p:spPr>
          <a:xfrm>
            <a:off x="5760720" y="4381754"/>
            <a:ext cx="137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61" name="Rounded Rectangle 25"/>
          <p:cNvSpPr/>
          <p:nvPr/>
        </p:nvSpPr>
        <p:spPr>
          <a:xfrm>
            <a:off x="3794759" y="4639476"/>
            <a:ext cx="4251961" cy="39319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62" name="TextBox 26"/>
          <p:cNvSpPr txBox="1"/>
          <p:nvPr/>
        </p:nvSpPr>
        <p:spPr>
          <a:xfrm>
            <a:off x="3982403" y="4685712"/>
            <a:ext cx="388620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Government Health Dashboard</a:t>
            </a:r>
          </a:p>
        </p:txBody>
      </p:sp>
      <p:sp>
        <p:nvSpPr>
          <p:cNvPr id="263" name="TextBox 27"/>
          <p:cNvSpPr txBox="1"/>
          <p:nvPr/>
        </p:nvSpPr>
        <p:spPr>
          <a:xfrm>
            <a:off x="5760720" y="4999275"/>
            <a:ext cx="137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64" name="Rounded Rectangle 28"/>
          <p:cNvSpPr/>
          <p:nvPr/>
        </p:nvSpPr>
        <p:spPr>
          <a:xfrm>
            <a:off x="3799523" y="5295138"/>
            <a:ext cx="4251961" cy="393193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65" name="TextBox 29"/>
          <p:cNvSpPr txBox="1"/>
          <p:nvPr/>
        </p:nvSpPr>
        <p:spPr>
          <a:xfrm>
            <a:off x="3982403" y="5325364"/>
            <a:ext cx="388620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Human Approval</a:t>
            </a:r>
          </a:p>
        </p:txBody>
      </p:sp>
      <p:sp>
        <p:nvSpPr>
          <p:cNvPr id="266" name="TextBox 30"/>
          <p:cNvSpPr txBox="1"/>
          <p:nvPr/>
        </p:nvSpPr>
        <p:spPr>
          <a:xfrm>
            <a:off x="5760720" y="5676217"/>
            <a:ext cx="137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67" name="Rounded Rectangle 31"/>
          <p:cNvSpPr/>
          <p:nvPr/>
        </p:nvSpPr>
        <p:spPr>
          <a:xfrm>
            <a:off x="3794759" y="5934646"/>
            <a:ext cx="4251961" cy="39319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68" name="TextBox 32"/>
          <p:cNvSpPr txBox="1"/>
          <p:nvPr/>
        </p:nvSpPr>
        <p:spPr>
          <a:xfrm>
            <a:off x="3977640" y="5977127"/>
            <a:ext cx="388619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Action + Audit Log</a:t>
            </a:r>
          </a:p>
        </p:txBody>
      </p:sp>
      <p:sp>
        <p:nvSpPr>
          <p:cNvPr id="269" name="Rounded Rectangle 33"/>
          <p:cNvSpPr/>
          <p:nvPr/>
        </p:nvSpPr>
        <p:spPr>
          <a:xfrm>
            <a:off x="8503919" y="1078991"/>
            <a:ext cx="3182113" cy="5303522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270" name="TextBox 34"/>
          <p:cNvSpPr txBox="1"/>
          <p:nvPr/>
        </p:nvSpPr>
        <p:spPr>
          <a:xfrm>
            <a:off x="8805671" y="1371600"/>
            <a:ext cx="2560321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6BE4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HUMAN-IN-THE-LOOP</a:t>
            </a:r>
          </a:p>
        </p:txBody>
      </p:sp>
      <p:sp>
        <p:nvSpPr>
          <p:cNvPr id="271" name="TextBox 35"/>
          <p:cNvSpPr txBox="1"/>
          <p:nvPr/>
        </p:nvSpPr>
        <p:spPr>
          <a:xfrm>
            <a:off x="8778239" y="1793494"/>
            <a:ext cx="2514601" cy="268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AI does not autonomously transfer government resources.</a:t>
            </a:r>
          </a:p>
          <a:p>
            <a:pPr>
              <a:defRPr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It can recommend:</a:t>
            </a:r>
          </a:p>
          <a:p>
            <a:pPr>
              <a:defRPr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“Review transfer of 2,000 units from Facility A to Facility B.”</a:t>
            </a:r>
          </a:p>
          <a:p>
            <a:pPr>
              <a:defRPr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4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authorized official decides whether the action is appropriate.</a:t>
            </a:r>
          </a:p>
        </p:txBody>
      </p:sp>
      <p:sp>
        <p:nvSpPr>
          <p:cNvPr id="272" name="TextBox 36"/>
          <p:cNvSpPr txBox="1"/>
          <p:nvPr/>
        </p:nvSpPr>
        <p:spPr>
          <a:xfrm>
            <a:off x="8805671" y="4590288"/>
            <a:ext cx="2514601" cy="1386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Recommendation can carry: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reason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model score/confidence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timestamp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approval/rejection</a:t>
            </a:r>
          </a:p>
          <a:p>
            <a:pPr>
              <a:defRPr sz="14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audit trail</a:t>
            </a:r>
          </a:p>
        </p:txBody>
      </p:sp>
      <p:sp>
        <p:nvSpPr>
          <p:cNvPr id="273" name="TextBox 37"/>
          <p:cNvSpPr txBox="1"/>
          <p:nvPr/>
        </p:nvSpPr>
        <p:spPr>
          <a:xfrm>
            <a:off x="548639" y="6510528"/>
            <a:ext cx="6766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Niramaya AI • Build With AI: Code for Communities 2.0</a:t>
            </a:r>
          </a:p>
        </p:txBody>
      </p:sp>
      <p:sp>
        <p:nvSpPr>
          <p:cNvPr id="274" name="TextBox 38"/>
          <p:cNvSpPr txBox="1"/>
          <p:nvPr/>
        </p:nvSpPr>
        <p:spPr>
          <a:xfrm>
            <a:off x="9418319" y="6510528"/>
            <a:ext cx="2194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Team Niramaya AI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2"/>
          <p:cNvSpPr txBox="1"/>
          <p:nvPr/>
        </p:nvSpPr>
        <p:spPr>
          <a:xfrm>
            <a:off x="511307" y="921190"/>
            <a:ext cx="10652761" cy="4899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Why the Solution Is Deployable</a:t>
            </a:r>
          </a:p>
        </p:txBody>
      </p:sp>
      <p:sp>
        <p:nvSpPr>
          <p:cNvPr id="277" name="TextBox 3"/>
          <p:cNvSpPr txBox="1"/>
          <p:nvPr/>
        </p:nvSpPr>
        <p:spPr>
          <a:xfrm>
            <a:off x="495093" y="1414899"/>
            <a:ext cx="1051560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Designed as an intelligence layer — not a replacement for existing government systems.</a:t>
            </a:r>
          </a:p>
        </p:txBody>
      </p:sp>
      <p:sp>
        <p:nvSpPr>
          <p:cNvPr id="278" name="Rounded Rectangle 4"/>
          <p:cNvSpPr/>
          <p:nvPr/>
        </p:nvSpPr>
        <p:spPr>
          <a:xfrm>
            <a:off x="468700" y="1885148"/>
            <a:ext cx="2651761" cy="150876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79" name="Rectangle 5"/>
          <p:cNvSpPr/>
          <p:nvPr/>
        </p:nvSpPr>
        <p:spPr>
          <a:xfrm>
            <a:off x="468700" y="1885148"/>
            <a:ext cx="50293" cy="1508761"/>
          </a:xfrm>
          <a:prstGeom prst="rect">
            <a:avLst/>
          </a:prstGeom>
          <a:solidFill>
            <a:srgbClr val="42D3E8"/>
          </a:solidFill>
          <a:ln>
            <a:solidFill>
              <a:srgbClr val="42D3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80" name="TextBox 6"/>
          <p:cNvSpPr txBox="1"/>
          <p:nvPr/>
        </p:nvSpPr>
        <p:spPr>
          <a:xfrm>
            <a:off x="679012" y="2013164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🔐 Role-Based Access</a:t>
            </a:r>
          </a:p>
        </p:txBody>
      </p:sp>
      <p:sp>
        <p:nvSpPr>
          <p:cNvPr id="281" name="TextBox 7"/>
          <p:cNvSpPr txBox="1"/>
          <p:nvPr/>
        </p:nvSpPr>
        <p:spPr>
          <a:xfrm>
            <a:off x="679012" y="2406355"/>
            <a:ext cx="22402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Relevant state/district/facility views.</a:t>
            </a:r>
          </a:p>
        </p:txBody>
      </p:sp>
      <p:sp>
        <p:nvSpPr>
          <p:cNvPr id="282" name="Rounded Rectangle 8"/>
          <p:cNvSpPr/>
          <p:nvPr/>
        </p:nvSpPr>
        <p:spPr>
          <a:xfrm>
            <a:off x="3394780" y="1885148"/>
            <a:ext cx="2651761" cy="150876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83" name="Rectangle 9"/>
          <p:cNvSpPr/>
          <p:nvPr/>
        </p:nvSpPr>
        <p:spPr>
          <a:xfrm>
            <a:off x="3394780" y="1885148"/>
            <a:ext cx="50293" cy="1508761"/>
          </a:xfrm>
          <a:prstGeom prst="rect">
            <a:avLst/>
          </a:prstGeom>
          <a:solidFill>
            <a:srgbClr val="52D38F"/>
          </a:solidFill>
          <a:ln>
            <a:solidFill>
              <a:srgbClr val="52D38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84" name="TextBox 10"/>
          <p:cNvSpPr txBox="1"/>
          <p:nvPr/>
        </p:nvSpPr>
        <p:spPr>
          <a:xfrm>
            <a:off x="3605092" y="2013164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🔌 Modular APIs</a:t>
            </a:r>
          </a:p>
        </p:txBody>
      </p:sp>
      <p:sp>
        <p:nvSpPr>
          <p:cNvPr id="285" name="TextBox 11"/>
          <p:cNvSpPr txBox="1"/>
          <p:nvPr/>
        </p:nvSpPr>
        <p:spPr>
          <a:xfrm>
            <a:off x="3605092" y="2406355"/>
            <a:ext cx="224028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Connect authorized systems through standardized interfaces.</a:t>
            </a:r>
          </a:p>
        </p:txBody>
      </p:sp>
      <p:sp>
        <p:nvSpPr>
          <p:cNvPr id="286" name="Rounded Rectangle 12"/>
          <p:cNvSpPr/>
          <p:nvPr/>
        </p:nvSpPr>
        <p:spPr>
          <a:xfrm>
            <a:off x="6320860" y="1885148"/>
            <a:ext cx="2651761" cy="150876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87" name="Rectangle 13"/>
          <p:cNvSpPr/>
          <p:nvPr/>
        </p:nvSpPr>
        <p:spPr>
          <a:xfrm>
            <a:off x="6320860" y="1885148"/>
            <a:ext cx="50293" cy="1508761"/>
          </a:xfrm>
          <a:prstGeom prst="rect">
            <a:avLst/>
          </a:prstGeom>
          <a:solidFill>
            <a:srgbClr val="A57DFF"/>
          </a:solidFill>
          <a:ln>
            <a:solidFill>
              <a:srgbClr val="A57D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88" name="TextBox 14"/>
          <p:cNvSpPr txBox="1"/>
          <p:nvPr/>
        </p:nvSpPr>
        <p:spPr>
          <a:xfrm>
            <a:off x="6531172" y="2013164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🗄️ PostgreSQL</a:t>
            </a:r>
          </a:p>
        </p:txBody>
      </p:sp>
      <p:sp>
        <p:nvSpPr>
          <p:cNvPr id="289" name="TextBox 15"/>
          <p:cNvSpPr txBox="1"/>
          <p:nvPr/>
        </p:nvSpPr>
        <p:spPr>
          <a:xfrm>
            <a:off x="6531172" y="2406355"/>
            <a:ext cx="224028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Structured storage for facilities, inventory and events.</a:t>
            </a:r>
          </a:p>
        </p:txBody>
      </p:sp>
      <p:sp>
        <p:nvSpPr>
          <p:cNvPr id="290" name="Rounded Rectangle 16"/>
          <p:cNvSpPr/>
          <p:nvPr/>
        </p:nvSpPr>
        <p:spPr>
          <a:xfrm>
            <a:off x="9246941" y="1885148"/>
            <a:ext cx="2651761" cy="150876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91" name="Rectangle 17"/>
          <p:cNvSpPr/>
          <p:nvPr/>
        </p:nvSpPr>
        <p:spPr>
          <a:xfrm>
            <a:off x="9246941" y="1885148"/>
            <a:ext cx="50293" cy="1508761"/>
          </a:xfrm>
          <a:prstGeom prst="rect">
            <a:avLst/>
          </a:prstGeom>
          <a:solidFill>
            <a:srgbClr val="F76367"/>
          </a:solidFill>
          <a:ln>
            <a:solidFill>
              <a:srgbClr val="F7636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92" name="TextBox 18"/>
          <p:cNvSpPr txBox="1"/>
          <p:nvPr/>
        </p:nvSpPr>
        <p:spPr>
          <a:xfrm>
            <a:off x="9457252" y="2013164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🤖 AI/ML Services</a:t>
            </a:r>
          </a:p>
        </p:txBody>
      </p:sp>
      <p:sp>
        <p:nvSpPr>
          <p:cNvPr id="293" name="TextBox 19"/>
          <p:cNvSpPr txBox="1"/>
          <p:nvPr/>
        </p:nvSpPr>
        <p:spPr>
          <a:xfrm>
            <a:off x="9457252" y="2406355"/>
            <a:ext cx="224028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Forecasting, risk, optimization and simulation.</a:t>
            </a:r>
          </a:p>
        </p:txBody>
      </p:sp>
      <p:sp>
        <p:nvSpPr>
          <p:cNvPr id="294" name="Rounded Rectangle 20"/>
          <p:cNvSpPr/>
          <p:nvPr/>
        </p:nvSpPr>
        <p:spPr>
          <a:xfrm>
            <a:off x="468700" y="3713948"/>
            <a:ext cx="2651761" cy="150876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95" name="Rectangle 21"/>
          <p:cNvSpPr/>
          <p:nvPr/>
        </p:nvSpPr>
        <p:spPr>
          <a:xfrm>
            <a:off x="468700" y="3713948"/>
            <a:ext cx="50293" cy="1508761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96" name="TextBox 22"/>
          <p:cNvSpPr txBox="1"/>
          <p:nvPr/>
        </p:nvSpPr>
        <p:spPr>
          <a:xfrm>
            <a:off x="679012" y="3841964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🔄 Data Adapters</a:t>
            </a:r>
          </a:p>
        </p:txBody>
      </p:sp>
      <p:sp>
        <p:nvSpPr>
          <p:cNvPr id="297" name="TextBox 23"/>
          <p:cNvSpPr txBox="1"/>
          <p:nvPr/>
        </p:nvSpPr>
        <p:spPr>
          <a:xfrm>
            <a:off x="679012" y="4235156"/>
            <a:ext cx="224028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Map different source formats into a common model.</a:t>
            </a:r>
          </a:p>
        </p:txBody>
      </p:sp>
      <p:sp>
        <p:nvSpPr>
          <p:cNvPr id="298" name="Rounded Rectangle 24"/>
          <p:cNvSpPr/>
          <p:nvPr/>
        </p:nvSpPr>
        <p:spPr>
          <a:xfrm>
            <a:off x="3394780" y="3713948"/>
            <a:ext cx="2651761" cy="150876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299" name="Rectangle 25"/>
          <p:cNvSpPr/>
          <p:nvPr/>
        </p:nvSpPr>
        <p:spPr>
          <a:xfrm>
            <a:off x="3394780" y="3713948"/>
            <a:ext cx="50293" cy="1508761"/>
          </a:xfrm>
          <a:prstGeom prst="rect">
            <a:avLst/>
          </a:prstGeom>
          <a:solidFill>
            <a:srgbClr val="42D3E8"/>
          </a:solidFill>
          <a:ln>
            <a:solidFill>
              <a:srgbClr val="42D3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300" name="TextBox 26"/>
          <p:cNvSpPr txBox="1"/>
          <p:nvPr/>
        </p:nvSpPr>
        <p:spPr>
          <a:xfrm>
            <a:off x="3605092" y="3841964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📋 Audit Logs</a:t>
            </a:r>
          </a:p>
        </p:txBody>
      </p:sp>
      <p:sp>
        <p:nvSpPr>
          <p:cNvPr id="301" name="TextBox 27"/>
          <p:cNvSpPr txBox="1"/>
          <p:nvPr/>
        </p:nvSpPr>
        <p:spPr>
          <a:xfrm>
            <a:off x="3605092" y="4235156"/>
            <a:ext cx="22402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Track recommendations, decisions and overrides.</a:t>
            </a:r>
          </a:p>
        </p:txBody>
      </p:sp>
      <p:sp>
        <p:nvSpPr>
          <p:cNvPr id="302" name="Rounded Rectangle 28"/>
          <p:cNvSpPr/>
          <p:nvPr/>
        </p:nvSpPr>
        <p:spPr>
          <a:xfrm>
            <a:off x="6320860" y="3713948"/>
            <a:ext cx="2651761" cy="150876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303" name="Rectangle 29"/>
          <p:cNvSpPr/>
          <p:nvPr/>
        </p:nvSpPr>
        <p:spPr>
          <a:xfrm>
            <a:off x="6320860" y="3713948"/>
            <a:ext cx="50293" cy="1508761"/>
          </a:xfrm>
          <a:prstGeom prst="rect">
            <a:avLst/>
          </a:prstGeom>
          <a:solidFill>
            <a:srgbClr val="52D38F"/>
          </a:solidFill>
          <a:ln>
            <a:solidFill>
              <a:srgbClr val="52D38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304" name="TextBox 30"/>
          <p:cNvSpPr txBox="1"/>
          <p:nvPr/>
        </p:nvSpPr>
        <p:spPr>
          <a:xfrm>
            <a:off x="6531172" y="3841964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☁️ Cloud Deployment</a:t>
            </a:r>
          </a:p>
        </p:txBody>
      </p:sp>
      <p:sp>
        <p:nvSpPr>
          <p:cNvPr id="305" name="TextBox 31"/>
          <p:cNvSpPr txBox="1"/>
          <p:nvPr/>
        </p:nvSpPr>
        <p:spPr>
          <a:xfrm>
            <a:off x="6531172" y="4235156"/>
            <a:ext cx="22402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Scalable service architecture.</a:t>
            </a:r>
          </a:p>
        </p:txBody>
      </p:sp>
      <p:sp>
        <p:nvSpPr>
          <p:cNvPr id="306" name="Rounded Rectangle 32"/>
          <p:cNvSpPr/>
          <p:nvPr/>
        </p:nvSpPr>
        <p:spPr>
          <a:xfrm>
            <a:off x="9246941" y="3713948"/>
            <a:ext cx="2651761" cy="150876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307" name="Rectangle 33"/>
          <p:cNvSpPr/>
          <p:nvPr/>
        </p:nvSpPr>
        <p:spPr>
          <a:xfrm>
            <a:off x="9246941" y="3713948"/>
            <a:ext cx="50293" cy="1508761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308" name="TextBox 34"/>
          <p:cNvSpPr txBox="1"/>
          <p:nvPr/>
        </p:nvSpPr>
        <p:spPr>
          <a:xfrm>
            <a:off x="9457252" y="3841964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👨‍💼 Human Approval</a:t>
            </a:r>
          </a:p>
        </p:txBody>
      </p:sp>
      <p:sp>
        <p:nvSpPr>
          <p:cNvPr id="309" name="TextBox 35"/>
          <p:cNvSpPr txBox="1"/>
          <p:nvPr/>
        </p:nvSpPr>
        <p:spPr>
          <a:xfrm>
            <a:off x="9457252" y="4235156"/>
            <a:ext cx="224028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Operational actions require authorized review.</a:t>
            </a:r>
          </a:p>
        </p:txBody>
      </p:sp>
      <p:sp>
        <p:nvSpPr>
          <p:cNvPr id="310" name="Rounded Rectangle 36"/>
          <p:cNvSpPr/>
          <p:nvPr/>
        </p:nvSpPr>
        <p:spPr>
          <a:xfrm>
            <a:off x="626109" y="5326571"/>
            <a:ext cx="10927082" cy="914401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11" name="TextBox 37"/>
          <p:cNvSpPr txBox="1"/>
          <p:nvPr/>
        </p:nvSpPr>
        <p:spPr>
          <a:xfrm>
            <a:off x="909573" y="5536883"/>
            <a:ext cx="132682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HACKATHON</a:t>
            </a:r>
          </a:p>
        </p:txBody>
      </p:sp>
      <p:sp>
        <p:nvSpPr>
          <p:cNvPr id="312" name="TextBox 38"/>
          <p:cNvSpPr txBox="1"/>
          <p:nvPr/>
        </p:nvSpPr>
        <p:spPr>
          <a:xfrm>
            <a:off x="2187000" y="5491164"/>
            <a:ext cx="152620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Synthetic + realistic data</a:t>
            </a:r>
          </a:p>
        </p:txBody>
      </p:sp>
      <p:sp>
        <p:nvSpPr>
          <p:cNvPr id="313" name="TextBox 39"/>
          <p:cNvSpPr txBox="1"/>
          <p:nvPr/>
        </p:nvSpPr>
        <p:spPr>
          <a:xfrm>
            <a:off x="3910197" y="5493957"/>
            <a:ext cx="27074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14" name="TextBox 40"/>
          <p:cNvSpPr txBox="1"/>
          <p:nvPr/>
        </p:nvSpPr>
        <p:spPr>
          <a:xfrm>
            <a:off x="4377933" y="5500307"/>
            <a:ext cx="15262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52D38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PRODUCTION</a:t>
            </a:r>
          </a:p>
        </p:txBody>
      </p:sp>
      <p:sp>
        <p:nvSpPr>
          <p:cNvPr id="315" name="TextBox 41"/>
          <p:cNvSpPr txBox="1"/>
          <p:nvPr/>
        </p:nvSpPr>
        <p:spPr>
          <a:xfrm>
            <a:off x="5754576" y="5491164"/>
            <a:ext cx="53035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Authorized data integrations + security + validation + governance</a:t>
            </a:r>
          </a:p>
        </p:txBody>
      </p:sp>
      <p:sp>
        <p:nvSpPr>
          <p:cNvPr id="316" name="TextBox 42"/>
          <p:cNvSpPr txBox="1"/>
          <p:nvPr/>
        </p:nvSpPr>
        <p:spPr>
          <a:xfrm>
            <a:off x="927861" y="5920931"/>
            <a:ext cx="1014984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Deployment requires appropriate government authorization and data-governance controls.</a:t>
            </a:r>
          </a:p>
        </p:txBody>
      </p:sp>
      <p:sp>
        <p:nvSpPr>
          <p:cNvPr id="317" name="TextBox 43"/>
          <p:cNvSpPr txBox="1"/>
          <p:nvPr/>
        </p:nvSpPr>
        <p:spPr>
          <a:xfrm>
            <a:off x="548639" y="6510528"/>
            <a:ext cx="6766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Niramaya AI • Build With AI: Code for Communities 2.0</a:t>
            </a:r>
          </a:p>
        </p:txBody>
      </p:sp>
      <p:sp>
        <p:nvSpPr>
          <p:cNvPr id="318" name="TextBox 44"/>
          <p:cNvSpPr txBox="1"/>
          <p:nvPr/>
        </p:nvSpPr>
        <p:spPr>
          <a:xfrm>
            <a:off x="9418319" y="6510528"/>
            <a:ext cx="2194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Team Niramaya AI</a:t>
            </a:r>
          </a:p>
        </p:txBody>
      </p:sp>
      <p:sp>
        <p:nvSpPr>
          <p:cNvPr id="319" name="Google Shape;92;p19"/>
          <p:cNvSpPr txBox="1"/>
          <p:nvPr/>
        </p:nvSpPr>
        <p:spPr>
          <a:xfrm>
            <a:off x="1324605" y="517885"/>
            <a:ext cx="8784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defTabSz="914400">
              <a:defRPr b="1" sz="1500">
                <a:solidFill>
                  <a:srgbClr val="43434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Indore</a:t>
            </a:r>
          </a:p>
        </p:txBody>
      </p:sp>
      <p:pic>
        <p:nvPicPr>
          <p:cNvPr id="320" name="Google Shape;91;p19" descr="Google Shape;91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6511" y="149884"/>
            <a:ext cx="5022908" cy="649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Box 2"/>
          <p:cNvSpPr txBox="1"/>
          <p:nvPr/>
        </p:nvSpPr>
        <p:spPr>
          <a:xfrm>
            <a:off x="743869" y="972777"/>
            <a:ext cx="10652761" cy="4899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Scalability Across India</a:t>
            </a:r>
          </a:p>
        </p:txBody>
      </p:sp>
      <p:sp>
        <p:nvSpPr>
          <p:cNvPr id="323" name="TextBox 3"/>
          <p:cNvSpPr txBox="1"/>
          <p:nvPr/>
        </p:nvSpPr>
        <p:spPr>
          <a:xfrm>
            <a:off x="812449" y="1475607"/>
            <a:ext cx="10515601" cy="3330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Start Local. Scale Nationally.</a:t>
            </a:r>
          </a:p>
        </p:txBody>
      </p:sp>
      <p:sp>
        <p:nvSpPr>
          <p:cNvPr id="324" name="TextBox 4"/>
          <p:cNvSpPr txBox="1"/>
          <p:nvPr/>
        </p:nvSpPr>
        <p:spPr>
          <a:xfrm>
            <a:off x="853597" y="1804105"/>
            <a:ext cx="1078992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Pilot context: Madhya Pradesh → district-level intelligence → state-level intelligence → multi-state network</a:t>
            </a:r>
          </a:p>
        </p:txBody>
      </p:sp>
      <p:sp>
        <p:nvSpPr>
          <p:cNvPr id="325" name="Rounded Rectangle 5"/>
          <p:cNvSpPr/>
          <p:nvPr/>
        </p:nvSpPr>
        <p:spPr>
          <a:xfrm>
            <a:off x="743869" y="2416753"/>
            <a:ext cx="3246121" cy="53035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326" name="TextBox 6"/>
          <p:cNvSpPr txBox="1"/>
          <p:nvPr/>
        </p:nvSpPr>
        <p:spPr>
          <a:xfrm>
            <a:off x="945037" y="2480761"/>
            <a:ext cx="283464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🇮🇳 Madhya Pradesh</a:t>
            </a:r>
          </a:p>
        </p:txBody>
      </p:sp>
      <p:sp>
        <p:nvSpPr>
          <p:cNvPr id="327" name="TextBox 7"/>
          <p:cNvSpPr txBox="1"/>
          <p:nvPr/>
        </p:nvSpPr>
        <p:spPr>
          <a:xfrm>
            <a:off x="2298349" y="2965393"/>
            <a:ext cx="137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328" name="Rounded Rectangle 8"/>
          <p:cNvSpPr/>
          <p:nvPr/>
        </p:nvSpPr>
        <p:spPr>
          <a:xfrm>
            <a:off x="743869" y="3221425"/>
            <a:ext cx="3246121" cy="53035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329" name="TextBox 9"/>
          <p:cNvSpPr txBox="1"/>
          <p:nvPr/>
        </p:nvSpPr>
        <p:spPr>
          <a:xfrm>
            <a:off x="945037" y="3346981"/>
            <a:ext cx="283464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52D38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District Network</a:t>
            </a:r>
          </a:p>
        </p:txBody>
      </p:sp>
      <p:sp>
        <p:nvSpPr>
          <p:cNvPr id="330" name="TextBox 10"/>
          <p:cNvSpPr txBox="1"/>
          <p:nvPr/>
        </p:nvSpPr>
        <p:spPr>
          <a:xfrm>
            <a:off x="2298349" y="3770065"/>
            <a:ext cx="137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331" name="Rounded Rectangle 11"/>
          <p:cNvSpPr/>
          <p:nvPr/>
        </p:nvSpPr>
        <p:spPr>
          <a:xfrm>
            <a:off x="743869" y="4026097"/>
            <a:ext cx="3246121" cy="53035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332" name="TextBox 12"/>
          <p:cNvSpPr txBox="1"/>
          <p:nvPr/>
        </p:nvSpPr>
        <p:spPr>
          <a:xfrm>
            <a:off x="945037" y="4124300"/>
            <a:ext cx="283464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A57D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State Intelligence</a:t>
            </a:r>
          </a:p>
        </p:txBody>
      </p:sp>
      <p:sp>
        <p:nvSpPr>
          <p:cNvPr id="333" name="TextBox 13"/>
          <p:cNvSpPr txBox="1"/>
          <p:nvPr/>
        </p:nvSpPr>
        <p:spPr>
          <a:xfrm>
            <a:off x="2298349" y="4574736"/>
            <a:ext cx="137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334" name="Rounded Rectangle 14"/>
          <p:cNvSpPr/>
          <p:nvPr/>
        </p:nvSpPr>
        <p:spPr>
          <a:xfrm>
            <a:off x="743869" y="4830769"/>
            <a:ext cx="3246121" cy="53035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335" name="TextBox 15"/>
          <p:cNvSpPr txBox="1"/>
          <p:nvPr/>
        </p:nvSpPr>
        <p:spPr>
          <a:xfrm>
            <a:off x="945037" y="4963167"/>
            <a:ext cx="283464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F6BE4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Multi-State Network</a:t>
            </a:r>
          </a:p>
        </p:txBody>
      </p:sp>
      <p:sp>
        <p:nvSpPr>
          <p:cNvPr id="336" name="Rounded Rectangle 16"/>
          <p:cNvSpPr/>
          <p:nvPr/>
        </p:nvSpPr>
        <p:spPr>
          <a:xfrm>
            <a:off x="4229524" y="2119573"/>
            <a:ext cx="7452361" cy="4343401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37" name="TextBox 17"/>
          <p:cNvSpPr txBox="1"/>
          <p:nvPr/>
        </p:nvSpPr>
        <p:spPr>
          <a:xfrm>
            <a:off x="4595284" y="2393893"/>
            <a:ext cx="17373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chemeClr val="accent6">
                    <a:lumOff val="9460"/>
                  </a:schemeClr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WHY IT SCALES</a:t>
            </a:r>
          </a:p>
        </p:txBody>
      </p:sp>
      <p:sp>
        <p:nvSpPr>
          <p:cNvPr id="338" name="TextBox 18"/>
          <p:cNvSpPr txBox="1"/>
          <p:nvPr/>
        </p:nvSpPr>
        <p:spPr>
          <a:xfrm>
            <a:off x="4595284" y="2832805"/>
            <a:ext cx="649224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platform uses a configurable facility and data model rather than hard-coding one state's administrative structure.</a:t>
            </a:r>
          </a:p>
        </p:txBody>
      </p:sp>
      <p:sp>
        <p:nvSpPr>
          <p:cNvPr id="339" name="Rounded Rectangle 19"/>
          <p:cNvSpPr/>
          <p:nvPr/>
        </p:nvSpPr>
        <p:spPr>
          <a:xfrm>
            <a:off x="4549564" y="3491173"/>
            <a:ext cx="2880361" cy="429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40" name="TextBox 20"/>
          <p:cNvSpPr txBox="1"/>
          <p:nvPr/>
        </p:nvSpPr>
        <p:spPr>
          <a:xfrm>
            <a:off x="4714156" y="3591757"/>
            <a:ext cx="25603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facility hierarchy</a:t>
            </a:r>
          </a:p>
        </p:txBody>
      </p:sp>
      <p:sp>
        <p:nvSpPr>
          <p:cNvPr id="341" name="Rounded Rectangle 21"/>
          <p:cNvSpPr/>
          <p:nvPr/>
        </p:nvSpPr>
        <p:spPr>
          <a:xfrm>
            <a:off x="7795683" y="3491173"/>
            <a:ext cx="2880361" cy="429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42" name="TextBox 22"/>
          <p:cNvSpPr txBox="1"/>
          <p:nvPr/>
        </p:nvSpPr>
        <p:spPr>
          <a:xfrm>
            <a:off x="7960276" y="3591757"/>
            <a:ext cx="25603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authorized inventory data</a:t>
            </a:r>
          </a:p>
        </p:txBody>
      </p:sp>
      <p:sp>
        <p:nvSpPr>
          <p:cNvPr id="343" name="Rounded Rectangle 23"/>
          <p:cNvSpPr/>
          <p:nvPr/>
        </p:nvSpPr>
        <p:spPr>
          <a:xfrm>
            <a:off x="4549564" y="4103821"/>
            <a:ext cx="2880361" cy="429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44" name="TextBox 24"/>
          <p:cNvSpPr txBox="1"/>
          <p:nvPr/>
        </p:nvSpPr>
        <p:spPr>
          <a:xfrm>
            <a:off x="4714156" y="4204405"/>
            <a:ext cx="25603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local consumption patterns</a:t>
            </a:r>
          </a:p>
        </p:txBody>
      </p:sp>
      <p:sp>
        <p:nvSpPr>
          <p:cNvPr id="345" name="Rounded Rectangle 25"/>
          <p:cNvSpPr/>
          <p:nvPr/>
        </p:nvSpPr>
        <p:spPr>
          <a:xfrm>
            <a:off x="7795683" y="4103821"/>
            <a:ext cx="2880361" cy="429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46" name="TextBox 26"/>
          <p:cNvSpPr txBox="1"/>
          <p:nvPr/>
        </p:nvSpPr>
        <p:spPr>
          <a:xfrm>
            <a:off x="7960276" y="4204405"/>
            <a:ext cx="25603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procurement information</a:t>
            </a:r>
          </a:p>
        </p:txBody>
      </p:sp>
      <p:sp>
        <p:nvSpPr>
          <p:cNvPr id="347" name="Rounded Rectangle 27"/>
          <p:cNvSpPr/>
          <p:nvPr/>
        </p:nvSpPr>
        <p:spPr>
          <a:xfrm>
            <a:off x="4549564" y="4716469"/>
            <a:ext cx="2880361" cy="429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48" name="TextBox 28"/>
          <p:cNvSpPr txBox="1"/>
          <p:nvPr/>
        </p:nvSpPr>
        <p:spPr>
          <a:xfrm>
            <a:off x="4714156" y="4817053"/>
            <a:ext cx="25603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facility metadata</a:t>
            </a:r>
          </a:p>
        </p:txBody>
      </p:sp>
      <p:sp>
        <p:nvSpPr>
          <p:cNvPr id="349" name="Rounded Rectangle 29"/>
          <p:cNvSpPr/>
          <p:nvPr/>
        </p:nvSpPr>
        <p:spPr>
          <a:xfrm>
            <a:off x="7795683" y="4716469"/>
            <a:ext cx="2880361" cy="429769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50" name="TextBox 30"/>
          <p:cNvSpPr txBox="1"/>
          <p:nvPr/>
        </p:nvSpPr>
        <p:spPr>
          <a:xfrm>
            <a:off x="7960276" y="4817053"/>
            <a:ext cx="25603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state-specific workflows</a:t>
            </a:r>
          </a:p>
        </p:txBody>
      </p:sp>
      <p:sp>
        <p:nvSpPr>
          <p:cNvPr id="351" name="TextBox 31"/>
          <p:cNvSpPr txBox="1"/>
          <p:nvPr/>
        </p:nvSpPr>
        <p:spPr>
          <a:xfrm>
            <a:off x="4613572" y="5228533"/>
            <a:ext cx="6400801" cy="107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State A ─┐</a:t>
            </a:r>
          </a:p>
          <a:p>
            <a:pPr>
              <a:defRPr b="1"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State B ─┤</a:t>
            </a:r>
          </a:p>
          <a:p>
            <a:pPr>
              <a:defRPr b="1"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State C ─┼→ Common Data Model → Niramaya AI → State-specific insights</a:t>
            </a:r>
          </a:p>
          <a:p>
            <a:pPr>
              <a:defRPr b="1"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State N ─┘</a:t>
            </a:r>
          </a:p>
        </p:txBody>
      </p:sp>
      <p:sp>
        <p:nvSpPr>
          <p:cNvPr id="352" name="TextBox 32"/>
          <p:cNvSpPr txBox="1"/>
          <p:nvPr/>
        </p:nvSpPr>
        <p:spPr>
          <a:xfrm>
            <a:off x="548639" y="6510528"/>
            <a:ext cx="6766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Niramaya AI • Build With AI: Code for Communities 2.0</a:t>
            </a:r>
          </a:p>
        </p:txBody>
      </p:sp>
      <p:sp>
        <p:nvSpPr>
          <p:cNvPr id="353" name="TextBox 33"/>
          <p:cNvSpPr txBox="1"/>
          <p:nvPr/>
        </p:nvSpPr>
        <p:spPr>
          <a:xfrm>
            <a:off x="9418319" y="6510528"/>
            <a:ext cx="2194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Team Niramaya AI</a:t>
            </a:r>
          </a:p>
        </p:txBody>
      </p:sp>
      <p:sp>
        <p:nvSpPr>
          <p:cNvPr id="354" name="Google Shape;92;p19"/>
          <p:cNvSpPr txBox="1"/>
          <p:nvPr/>
        </p:nvSpPr>
        <p:spPr>
          <a:xfrm>
            <a:off x="1324605" y="517885"/>
            <a:ext cx="8784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defTabSz="914400">
              <a:defRPr b="1" sz="1500">
                <a:solidFill>
                  <a:srgbClr val="43434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Indore</a:t>
            </a:r>
          </a:p>
        </p:txBody>
      </p:sp>
      <p:pic>
        <p:nvPicPr>
          <p:cNvPr id="355" name="Google Shape;91;p19" descr="Google Shape;91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6511" y="149884"/>
            <a:ext cx="5022908" cy="649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Box 2"/>
          <p:cNvSpPr txBox="1"/>
          <p:nvPr/>
        </p:nvSpPr>
        <p:spPr>
          <a:xfrm>
            <a:off x="662920" y="800581"/>
            <a:ext cx="10652760" cy="4899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Cross-Border / BRICS Applicability</a:t>
            </a:r>
          </a:p>
        </p:txBody>
      </p:sp>
      <p:sp>
        <p:nvSpPr>
          <p:cNvPr id="358" name="TextBox 3"/>
          <p:cNvSpPr txBox="1"/>
          <p:nvPr/>
        </p:nvSpPr>
        <p:spPr>
          <a:xfrm>
            <a:off x="731500" y="1283057"/>
            <a:ext cx="1051560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A reusable public-health intelligence framework — not a claim of current deployment.</a:t>
            </a:r>
          </a:p>
        </p:txBody>
      </p:sp>
      <p:sp>
        <p:nvSpPr>
          <p:cNvPr id="359" name="Rounded Rectangle 4"/>
          <p:cNvSpPr/>
          <p:nvPr/>
        </p:nvSpPr>
        <p:spPr>
          <a:xfrm>
            <a:off x="557530" y="1614531"/>
            <a:ext cx="5394960" cy="4010626"/>
          </a:xfrm>
          <a:prstGeom prst="roundRect">
            <a:avLst>
              <a:gd name="adj" fmla="val 19570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TextBox 5"/>
          <p:cNvSpPr txBox="1"/>
          <p:nvPr/>
        </p:nvSpPr>
        <p:spPr>
          <a:xfrm>
            <a:off x="905002" y="1907139"/>
            <a:ext cx="366726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COUNTRY-SPECIFIC LAYER</a:t>
            </a:r>
          </a:p>
        </p:txBody>
      </p:sp>
      <p:sp>
        <p:nvSpPr>
          <p:cNvPr id="361" name="TextBox 6"/>
          <p:cNvSpPr txBox="1"/>
          <p:nvPr/>
        </p:nvSpPr>
        <p:spPr>
          <a:xfrm>
            <a:off x="870499" y="2324461"/>
            <a:ext cx="4526281" cy="315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Different countries may have different: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Health facility hierarchies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Procurement systems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Data standards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Regulations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Healthcare workflows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Country-specific adapter</a:t>
            </a:r>
          </a:p>
          <a:p>
            <a:pPr lvl="2"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↓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Common Data Model</a:t>
            </a:r>
          </a:p>
        </p:txBody>
      </p:sp>
      <p:sp>
        <p:nvSpPr>
          <p:cNvPr id="362" name="Rounded Rectangle 7"/>
          <p:cNvSpPr/>
          <p:nvPr/>
        </p:nvSpPr>
        <p:spPr>
          <a:xfrm>
            <a:off x="6226810" y="1614531"/>
            <a:ext cx="5394961" cy="4010626"/>
          </a:xfrm>
          <a:prstGeom prst="roundRect">
            <a:avLst>
              <a:gd name="adj" fmla="val 19570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TextBox 8"/>
          <p:cNvSpPr txBox="1"/>
          <p:nvPr/>
        </p:nvSpPr>
        <p:spPr>
          <a:xfrm>
            <a:off x="6574281" y="1907139"/>
            <a:ext cx="386949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A57D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REUSABLE MEDIGUARD CORE</a:t>
            </a:r>
          </a:p>
        </p:txBody>
      </p:sp>
      <p:sp>
        <p:nvSpPr>
          <p:cNvPr id="364" name="TextBox 9"/>
          <p:cNvSpPr txBox="1"/>
          <p:nvPr/>
        </p:nvSpPr>
        <p:spPr>
          <a:xfrm>
            <a:off x="6562780" y="2548489"/>
            <a:ext cx="4480561" cy="231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Demand Forecasting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Stock-out &amp; Expiry Risk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Redistribution Optimization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Emergency Simulation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Equipment Intelligence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Gemini Explanation Layer</a:t>
            </a:r>
          </a:p>
          <a:p>
            <a:pPr lvl="2"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↓</a:t>
            </a:r>
          </a:p>
          <a:p>
            <a:pPr>
              <a:defRPr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Local Decision Support</a:t>
            </a:r>
          </a:p>
        </p:txBody>
      </p:sp>
      <p:sp>
        <p:nvSpPr>
          <p:cNvPr id="365" name="TextBox 10"/>
          <p:cNvSpPr txBox="1"/>
          <p:nvPr/>
        </p:nvSpPr>
        <p:spPr>
          <a:xfrm>
            <a:off x="2719735" y="5677408"/>
            <a:ext cx="10241281" cy="447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🇮🇳 India   🇧🇷 Brazil   🇷🇺 Russia   🇨🇳 China   🇿🇦 South Africa</a:t>
            </a:r>
          </a:p>
        </p:txBody>
      </p:sp>
      <p:sp>
        <p:nvSpPr>
          <p:cNvPr id="366" name="TextBox 11"/>
          <p:cNvSpPr txBox="1"/>
          <p:nvPr/>
        </p:nvSpPr>
        <p:spPr>
          <a:xfrm>
            <a:off x="2225202" y="6074173"/>
            <a:ext cx="10241282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Key principle: local data governance + reusable intelligence architecture.</a:t>
            </a:r>
          </a:p>
        </p:txBody>
      </p:sp>
      <p:sp>
        <p:nvSpPr>
          <p:cNvPr id="367" name="TextBox 12"/>
          <p:cNvSpPr txBox="1"/>
          <p:nvPr/>
        </p:nvSpPr>
        <p:spPr>
          <a:xfrm>
            <a:off x="548639" y="6510528"/>
            <a:ext cx="6766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Niramaya AI • Build With AI: Code for Communities 2.0</a:t>
            </a:r>
          </a:p>
        </p:txBody>
      </p:sp>
      <p:sp>
        <p:nvSpPr>
          <p:cNvPr id="368" name="TextBox 13"/>
          <p:cNvSpPr txBox="1"/>
          <p:nvPr/>
        </p:nvSpPr>
        <p:spPr>
          <a:xfrm>
            <a:off x="9418319" y="6510528"/>
            <a:ext cx="2194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Team Niramaya AI</a:t>
            </a:r>
          </a:p>
        </p:txBody>
      </p:sp>
      <p:sp>
        <p:nvSpPr>
          <p:cNvPr id="369" name="Google Shape;92;p19"/>
          <p:cNvSpPr txBox="1"/>
          <p:nvPr/>
        </p:nvSpPr>
        <p:spPr>
          <a:xfrm>
            <a:off x="1324605" y="460382"/>
            <a:ext cx="8784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defTabSz="914400">
              <a:defRPr b="1" sz="1500">
                <a:solidFill>
                  <a:srgbClr val="43434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Indore</a:t>
            </a:r>
          </a:p>
        </p:txBody>
      </p:sp>
      <p:pic>
        <p:nvPicPr>
          <p:cNvPr id="370" name="Google Shape;91;p19" descr="Google Shape;91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6511" y="149884"/>
            <a:ext cx="5022908" cy="649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Box 2"/>
          <p:cNvSpPr txBox="1"/>
          <p:nvPr/>
        </p:nvSpPr>
        <p:spPr>
          <a:xfrm>
            <a:off x="511307" y="896356"/>
            <a:ext cx="10652761" cy="4899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Impact, Evaluation &amp; Future Scope</a:t>
            </a:r>
          </a:p>
        </p:txBody>
      </p:sp>
      <p:sp>
        <p:nvSpPr>
          <p:cNvPr id="373" name="TextBox 3"/>
          <p:cNvSpPr txBox="1"/>
          <p:nvPr/>
        </p:nvSpPr>
        <p:spPr>
          <a:xfrm>
            <a:off x="579887" y="1335083"/>
            <a:ext cx="1051560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Measure the system; don't invent impact before deployment.</a:t>
            </a:r>
          </a:p>
        </p:txBody>
      </p:sp>
      <p:sp>
        <p:nvSpPr>
          <p:cNvPr id="374" name="Rounded Rectangle 4"/>
          <p:cNvSpPr/>
          <p:nvPr/>
        </p:nvSpPr>
        <p:spPr>
          <a:xfrm>
            <a:off x="549432" y="1745059"/>
            <a:ext cx="5349241" cy="1325881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375" name="TextBox 5"/>
          <p:cNvSpPr txBox="1"/>
          <p:nvPr/>
        </p:nvSpPr>
        <p:spPr>
          <a:xfrm>
            <a:off x="846471" y="1890797"/>
            <a:ext cx="3319343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7636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❌ REACTIVE APPROACH</a:t>
            </a:r>
          </a:p>
        </p:txBody>
      </p:sp>
      <p:sp>
        <p:nvSpPr>
          <p:cNvPr id="376" name="TextBox 6"/>
          <p:cNvSpPr txBox="1"/>
          <p:nvPr/>
        </p:nvSpPr>
        <p:spPr>
          <a:xfrm>
            <a:off x="869472" y="2375996"/>
            <a:ext cx="4434841" cy="552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Shortage → Reaction → Constraint → Potential patient impact</a:t>
            </a:r>
          </a:p>
        </p:txBody>
      </p:sp>
      <p:sp>
        <p:nvSpPr>
          <p:cNvPr id="377" name="Rounded Rectangle 7"/>
          <p:cNvSpPr/>
          <p:nvPr/>
        </p:nvSpPr>
        <p:spPr>
          <a:xfrm>
            <a:off x="6237000" y="1745059"/>
            <a:ext cx="5349241" cy="1325881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</a:p>
        </p:txBody>
      </p:sp>
      <p:sp>
        <p:nvSpPr>
          <p:cNvPr id="378" name="TextBox 8"/>
          <p:cNvSpPr txBox="1"/>
          <p:nvPr/>
        </p:nvSpPr>
        <p:spPr>
          <a:xfrm>
            <a:off x="6545540" y="1890797"/>
            <a:ext cx="3465958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52D38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✅ MEDIGUARD APPROACH</a:t>
            </a:r>
          </a:p>
        </p:txBody>
      </p:sp>
      <p:sp>
        <p:nvSpPr>
          <p:cNvPr id="379" name="TextBox 9"/>
          <p:cNvSpPr txBox="1"/>
          <p:nvPr/>
        </p:nvSpPr>
        <p:spPr>
          <a:xfrm>
            <a:off x="6557040" y="2346070"/>
            <a:ext cx="4480561" cy="555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→ Prediction → Early Warning → Recommendation → Human Action</a:t>
            </a:r>
          </a:p>
        </p:txBody>
      </p:sp>
      <p:sp>
        <p:nvSpPr>
          <p:cNvPr id="380" name="Rounded Rectangle 10"/>
          <p:cNvSpPr/>
          <p:nvPr/>
        </p:nvSpPr>
        <p:spPr>
          <a:xfrm>
            <a:off x="572292" y="3173859"/>
            <a:ext cx="3456433" cy="859537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381" name="Rectangle 11"/>
          <p:cNvSpPr/>
          <p:nvPr/>
        </p:nvSpPr>
        <p:spPr>
          <a:xfrm>
            <a:off x="572292" y="3173859"/>
            <a:ext cx="50293" cy="859537"/>
          </a:xfrm>
          <a:prstGeom prst="rect">
            <a:avLst/>
          </a:prstGeom>
          <a:solidFill>
            <a:srgbClr val="42D3E8"/>
          </a:solidFill>
          <a:ln>
            <a:solidFill>
              <a:srgbClr val="42D3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382" name="TextBox 12"/>
          <p:cNvSpPr txBox="1"/>
          <p:nvPr/>
        </p:nvSpPr>
        <p:spPr>
          <a:xfrm>
            <a:off x="782604" y="3301875"/>
            <a:ext cx="304495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📈 Forecast Accuracy</a:t>
            </a:r>
          </a:p>
        </p:txBody>
      </p:sp>
      <p:sp>
        <p:nvSpPr>
          <p:cNvPr id="383" name="TextBox 13"/>
          <p:cNvSpPr txBox="1"/>
          <p:nvPr/>
        </p:nvSpPr>
        <p:spPr>
          <a:xfrm>
            <a:off x="782604" y="3695067"/>
            <a:ext cx="304495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How accurately can demand be predicted?</a:t>
            </a:r>
          </a:p>
        </p:txBody>
      </p:sp>
      <p:sp>
        <p:nvSpPr>
          <p:cNvPr id="384" name="Rounded Rectangle 14"/>
          <p:cNvSpPr/>
          <p:nvPr/>
        </p:nvSpPr>
        <p:spPr>
          <a:xfrm>
            <a:off x="4339620" y="3173859"/>
            <a:ext cx="3456433" cy="859537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385" name="Rectangle 15"/>
          <p:cNvSpPr/>
          <p:nvPr/>
        </p:nvSpPr>
        <p:spPr>
          <a:xfrm>
            <a:off x="4339620" y="3173859"/>
            <a:ext cx="50293" cy="859537"/>
          </a:xfrm>
          <a:prstGeom prst="rect">
            <a:avLst/>
          </a:prstGeom>
          <a:solidFill>
            <a:srgbClr val="F76367"/>
          </a:solidFill>
          <a:ln>
            <a:solidFill>
              <a:srgbClr val="F7636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386" name="TextBox 16"/>
          <p:cNvSpPr txBox="1"/>
          <p:nvPr/>
        </p:nvSpPr>
        <p:spPr>
          <a:xfrm>
            <a:off x="4545361" y="3268980"/>
            <a:ext cx="304495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🚨 Early Risk Detection</a:t>
            </a:r>
          </a:p>
        </p:txBody>
      </p:sp>
      <p:sp>
        <p:nvSpPr>
          <p:cNvPr id="387" name="TextBox 17"/>
          <p:cNvSpPr txBox="1"/>
          <p:nvPr/>
        </p:nvSpPr>
        <p:spPr>
          <a:xfrm>
            <a:off x="4549931" y="3634463"/>
            <a:ext cx="304495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How many potential shortages are identified early?</a:t>
            </a:r>
          </a:p>
        </p:txBody>
      </p:sp>
      <p:sp>
        <p:nvSpPr>
          <p:cNvPr id="388" name="Rounded Rectangle 18"/>
          <p:cNvSpPr/>
          <p:nvPr/>
        </p:nvSpPr>
        <p:spPr>
          <a:xfrm>
            <a:off x="8106948" y="3173859"/>
            <a:ext cx="3456433" cy="859537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389" name="Rectangle 19"/>
          <p:cNvSpPr/>
          <p:nvPr/>
        </p:nvSpPr>
        <p:spPr>
          <a:xfrm>
            <a:off x="8106948" y="3173859"/>
            <a:ext cx="50293" cy="859537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390" name="TextBox 20"/>
          <p:cNvSpPr txBox="1"/>
          <p:nvPr/>
        </p:nvSpPr>
        <p:spPr>
          <a:xfrm>
            <a:off x="8317259" y="3293944"/>
            <a:ext cx="304495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📦 Expiry-Risk Reduction</a:t>
            </a:r>
          </a:p>
        </p:txBody>
      </p:sp>
      <p:sp>
        <p:nvSpPr>
          <p:cNvPr id="391" name="TextBox 21"/>
          <p:cNvSpPr txBox="1"/>
          <p:nvPr/>
        </p:nvSpPr>
        <p:spPr>
          <a:xfrm>
            <a:off x="8317260" y="3695067"/>
            <a:ext cx="304495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How effectively is at-risk inventory surfaced?</a:t>
            </a:r>
          </a:p>
        </p:txBody>
      </p:sp>
      <p:sp>
        <p:nvSpPr>
          <p:cNvPr id="392" name="Rounded Rectangle 22"/>
          <p:cNvSpPr/>
          <p:nvPr/>
        </p:nvSpPr>
        <p:spPr>
          <a:xfrm>
            <a:off x="572292" y="4197987"/>
            <a:ext cx="3456433" cy="859537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393" name="Rectangle 23"/>
          <p:cNvSpPr/>
          <p:nvPr/>
        </p:nvSpPr>
        <p:spPr>
          <a:xfrm>
            <a:off x="572292" y="4197987"/>
            <a:ext cx="50293" cy="859537"/>
          </a:xfrm>
          <a:prstGeom prst="rect">
            <a:avLst/>
          </a:prstGeom>
          <a:solidFill>
            <a:srgbClr val="52D38F"/>
          </a:solidFill>
          <a:ln>
            <a:solidFill>
              <a:srgbClr val="52D38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394" name="TextBox 24"/>
          <p:cNvSpPr txBox="1"/>
          <p:nvPr/>
        </p:nvSpPr>
        <p:spPr>
          <a:xfrm>
            <a:off x="782604" y="4326003"/>
            <a:ext cx="304495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🔄 Redistribution Efficiency</a:t>
            </a:r>
          </a:p>
        </p:txBody>
      </p:sp>
      <p:sp>
        <p:nvSpPr>
          <p:cNvPr id="395" name="TextBox 25"/>
          <p:cNvSpPr txBox="1"/>
          <p:nvPr/>
        </p:nvSpPr>
        <p:spPr>
          <a:xfrm>
            <a:off x="782604" y="4719195"/>
            <a:ext cx="304495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How well are surplus-demand matches ranked?</a:t>
            </a:r>
          </a:p>
        </p:txBody>
      </p:sp>
      <p:sp>
        <p:nvSpPr>
          <p:cNvPr id="396" name="Rounded Rectangle 26"/>
          <p:cNvSpPr/>
          <p:nvPr/>
        </p:nvSpPr>
        <p:spPr>
          <a:xfrm>
            <a:off x="4339620" y="4197987"/>
            <a:ext cx="3456433" cy="859537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397" name="Rectangle 27"/>
          <p:cNvSpPr/>
          <p:nvPr/>
        </p:nvSpPr>
        <p:spPr>
          <a:xfrm>
            <a:off x="4339620" y="4197987"/>
            <a:ext cx="50293" cy="859537"/>
          </a:xfrm>
          <a:prstGeom prst="rect">
            <a:avLst/>
          </a:prstGeom>
          <a:solidFill>
            <a:srgbClr val="A57DFF"/>
          </a:solidFill>
          <a:ln>
            <a:solidFill>
              <a:srgbClr val="A57D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398" name="TextBox 28"/>
          <p:cNvSpPr txBox="1"/>
          <p:nvPr/>
        </p:nvSpPr>
        <p:spPr>
          <a:xfrm>
            <a:off x="4549931" y="4326003"/>
            <a:ext cx="304495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⏱️ Response Time</a:t>
            </a:r>
          </a:p>
        </p:txBody>
      </p:sp>
      <p:sp>
        <p:nvSpPr>
          <p:cNvPr id="399" name="TextBox 29"/>
          <p:cNvSpPr txBox="1"/>
          <p:nvPr/>
        </p:nvSpPr>
        <p:spPr>
          <a:xfrm>
            <a:off x="4549931" y="4719195"/>
            <a:ext cx="304495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How quickly can officials identify and respond?</a:t>
            </a:r>
          </a:p>
        </p:txBody>
      </p:sp>
      <p:sp>
        <p:nvSpPr>
          <p:cNvPr id="400" name="Rounded Rectangle 30"/>
          <p:cNvSpPr/>
          <p:nvPr/>
        </p:nvSpPr>
        <p:spPr>
          <a:xfrm>
            <a:off x="8106948" y="4197987"/>
            <a:ext cx="3456433" cy="859537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401" name="Rectangle 31"/>
          <p:cNvSpPr/>
          <p:nvPr/>
        </p:nvSpPr>
        <p:spPr>
          <a:xfrm>
            <a:off x="8106948" y="4197987"/>
            <a:ext cx="50293" cy="859537"/>
          </a:xfrm>
          <a:prstGeom prst="rect">
            <a:avLst/>
          </a:prstGeom>
          <a:solidFill>
            <a:srgbClr val="42D3E8"/>
          </a:solidFill>
          <a:ln>
            <a:solidFill>
              <a:srgbClr val="42D3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402" name="TextBox 32"/>
          <p:cNvSpPr txBox="1"/>
          <p:nvPr/>
        </p:nvSpPr>
        <p:spPr>
          <a:xfrm>
            <a:off x="8317260" y="4326003"/>
            <a:ext cx="304495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🏥 Equipment Downtime</a:t>
            </a:r>
          </a:p>
        </p:txBody>
      </p:sp>
      <p:sp>
        <p:nvSpPr>
          <p:cNvPr id="403" name="TextBox 33"/>
          <p:cNvSpPr txBox="1"/>
          <p:nvPr/>
        </p:nvSpPr>
        <p:spPr>
          <a:xfrm>
            <a:off x="8317260" y="4719195"/>
            <a:ext cx="304495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Can risk alerts support earlier maintenance?</a:t>
            </a:r>
          </a:p>
        </p:txBody>
      </p:sp>
      <p:sp>
        <p:nvSpPr>
          <p:cNvPr id="404" name="TextBox 34"/>
          <p:cNvSpPr txBox="1"/>
          <p:nvPr/>
        </p:nvSpPr>
        <p:spPr>
          <a:xfrm>
            <a:off x="648431" y="5154167"/>
            <a:ext cx="124974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chemeClr val="accent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FUTURE SCOPE</a:t>
            </a:r>
          </a:p>
        </p:txBody>
      </p:sp>
      <p:sp>
        <p:nvSpPr>
          <p:cNvPr id="405" name="TextBox 35"/>
          <p:cNvSpPr txBox="1"/>
          <p:nvPr/>
        </p:nvSpPr>
        <p:spPr>
          <a:xfrm>
            <a:off x="1989612" y="5147563"/>
            <a:ext cx="9281161" cy="9172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Authorized integrations • Multi-state deployment • Federated learning • Expanded languages • More resource categories • Emergency preparedness • Predictive maintenance • Advanced analytics</a:t>
            </a:r>
          </a:p>
        </p:txBody>
      </p:sp>
      <p:sp>
        <p:nvSpPr>
          <p:cNvPr id="406" name="TextBox 36"/>
          <p:cNvSpPr txBox="1"/>
          <p:nvPr/>
        </p:nvSpPr>
        <p:spPr>
          <a:xfrm>
            <a:off x="695736" y="6041373"/>
            <a:ext cx="10744201" cy="3330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Long-term vision: help public healthcare systems prepare before resource shortages become crises.</a:t>
            </a:r>
          </a:p>
        </p:txBody>
      </p:sp>
      <p:sp>
        <p:nvSpPr>
          <p:cNvPr id="407" name="TextBox 37"/>
          <p:cNvSpPr txBox="1"/>
          <p:nvPr/>
        </p:nvSpPr>
        <p:spPr>
          <a:xfrm>
            <a:off x="548639" y="6510528"/>
            <a:ext cx="6766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Niramaya AI • Build With AI: Code for Communities 2.0</a:t>
            </a:r>
          </a:p>
        </p:txBody>
      </p:sp>
      <p:sp>
        <p:nvSpPr>
          <p:cNvPr id="408" name="TextBox 38"/>
          <p:cNvSpPr txBox="1"/>
          <p:nvPr/>
        </p:nvSpPr>
        <p:spPr>
          <a:xfrm>
            <a:off x="9418319" y="6510528"/>
            <a:ext cx="2194561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Team Niramaya AI</a:t>
            </a:r>
          </a:p>
        </p:txBody>
      </p:sp>
      <p:sp>
        <p:nvSpPr>
          <p:cNvPr id="409" name="Google Shape;92;p19"/>
          <p:cNvSpPr txBox="1"/>
          <p:nvPr/>
        </p:nvSpPr>
        <p:spPr>
          <a:xfrm>
            <a:off x="1324605" y="477209"/>
            <a:ext cx="8784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defTabSz="914400">
              <a:defRPr b="1" sz="1500">
                <a:solidFill>
                  <a:srgbClr val="43434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Indore</a:t>
            </a:r>
          </a:p>
        </p:txBody>
      </p:sp>
      <p:pic>
        <p:nvPicPr>
          <p:cNvPr id="410" name="Google Shape;91;p19" descr="Google Shape;91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6511" y="149884"/>
            <a:ext cx="5022908" cy="649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Box 1"/>
          <p:cNvSpPr txBox="1"/>
          <p:nvPr/>
        </p:nvSpPr>
        <p:spPr>
          <a:xfrm>
            <a:off x="754521" y="1338752"/>
            <a:ext cx="5577841" cy="4899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Team Niramaya AI</a:t>
            </a:r>
          </a:p>
        </p:txBody>
      </p:sp>
      <p:sp>
        <p:nvSpPr>
          <p:cNvPr id="413" name="TextBox 2"/>
          <p:cNvSpPr txBox="1"/>
          <p:nvPr/>
        </p:nvSpPr>
        <p:spPr>
          <a:xfrm>
            <a:off x="712948" y="1898806"/>
            <a:ext cx="63093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chemeClr val="accent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Predict before shortage. Act before crisis.</a:t>
            </a:r>
          </a:p>
        </p:txBody>
      </p:sp>
      <p:sp>
        <p:nvSpPr>
          <p:cNvPr id="414" name="Rounded Rectangle 3"/>
          <p:cNvSpPr/>
          <p:nvPr/>
        </p:nvSpPr>
        <p:spPr>
          <a:xfrm>
            <a:off x="845819" y="2418492"/>
            <a:ext cx="4983481" cy="85039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415" name="TextBox 4"/>
          <p:cNvSpPr txBox="1"/>
          <p:nvPr/>
        </p:nvSpPr>
        <p:spPr>
          <a:xfrm>
            <a:off x="1074419" y="2459639"/>
            <a:ext cx="29260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Suniti Rathi</a:t>
            </a:r>
          </a:p>
        </p:txBody>
      </p:sp>
      <p:sp>
        <p:nvSpPr>
          <p:cNvPr id="416" name="TextBox 5"/>
          <p:cNvSpPr txBox="1"/>
          <p:nvPr/>
        </p:nvSpPr>
        <p:spPr>
          <a:xfrm>
            <a:off x="1097279" y="2696368"/>
            <a:ext cx="42976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/ ML</a:t>
            </a:r>
          </a:p>
        </p:txBody>
      </p:sp>
      <p:sp>
        <p:nvSpPr>
          <p:cNvPr id="417" name="TextBox 6"/>
          <p:cNvSpPr txBox="1"/>
          <p:nvPr/>
        </p:nvSpPr>
        <p:spPr>
          <a:xfrm>
            <a:off x="1074419" y="2944272"/>
            <a:ext cx="43434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Demand forecasting, risk prediction &amp; optimization</a:t>
            </a:r>
          </a:p>
        </p:txBody>
      </p:sp>
      <p:sp>
        <p:nvSpPr>
          <p:cNvPr id="418" name="Rounded Rectangle 7"/>
          <p:cNvSpPr/>
          <p:nvPr/>
        </p:nvSpPr>
        <p:spPr>
          <a:xfrm>
            <a:off x="6332220" y="2456084"/>
            <a:ext cx="4983480" cy="85039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419" name="TextBox 8"/>
          <p:cNvSpPr txBox="1"/>
          <p:nvPr/>
        </p:nvSpPr>
        <p:spPr>
          <a:xfrm>
            <a:off x="6560819" y="2459639"/>
            <a:ext cx="29260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Pradumn Patidar</a:t>
            </a:r>
          </a:p>
        </p:txBody>
      </p:sp>
      <p:sp>
        <p:nvSpPr>
          <p:cNvPr id="420" name="TextBox 9"/>
          <p:cNvSpPr txBox="1"/>
          <p:nvPr/>
        </p:nvSpPr>
        <p:spPr>
          <a:xfrm>
            <a:off x="6560819" y="2733960"/>
            <a:ext cx="42976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Backend / APIs</a:t>
            </a:r>
          </a:p>
        </p:txBody>
      </p:sp>
      <p:sp>
        <p:nvSpPr>
          <p:cNvPr id="421" name="TextBox 10"/>
          <p:cNvSpPr txBox="1"/>
          <p:nvPr/>
        </p:nvSpPr>
        <p:spPr>
          <a:xfrm>
            <a:off x="6560819" y="2944272"/>
            <a:ext cx="43434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Backend services, APIs &amp; database architecture</a:t>
            </a:r>
          </a:p>
        </p:txBody>
      </p:sp>
      <p:sp>
        <p:nvSpPr>
          <p:cNvPr id="422" name="Rounded Rectangle 11"/>
          <p:cNvSpPr/>
          <p:nvPr/>
        </p:nvSpPr>
        <p:spPr>
          <a:xfrm>
            <a:off x="845819" y="3537266"/>
            <a:ext cx="4983481" cy="85039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423" name="TextBox 12"/>
          <p:cNvSpPr txBox="1"/>
          <p:nvPr/>
        </p:nvSpPr>
        <p:spPr>
          <a:xfrm>
            <a:off x="1074419" y="3584352"/>
            <a:ext cx="29260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Shikha Sharma</a:t>
            </a:r>
          </a:p>
        </p:txBody>
      </p:sp>
      <p:sp>
        <p:nvSpPr>
          <p:cNvPr id="424" name="TextBox 13"/>
          <p:cNvSpPr txBox="1"/>
          <p:nvPr/>
        </p:nvSpPr>
        <p:spPr>
          <a:xfrm>
            <a:off x="1074419" y="3858672"/>
            <a:ext cx="42976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Frontend / UX</a:t>
            </a:r>
          </a:p>
        </p:txBody>
      </p:sp>
      <p:sp>
        <p:nvSpPr>
          <p:cNvPr id="425" name="TextBox 14"/>
          <p:cNvSpPr txBox="1"/>
          <p:nvPr/>
        </p:nvSpPr>
        <p:spPr>
          <a:xfrm>
            <a:off x="1074419" y="4068984"/>
            <a:ext cx="43434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Dashboard, citizen experience &amp; visualization</a:t>
            </a:r>
          </a:p>
        </p:txBody>
      </p:sp>
      <p:sp>
        <p:nvSpPr>
          <p:cNvPr id="426" name="Rounded Rectangle 15"/>
          <p:cNvSpPr/>
          <p:nvPr/>
        </p:nvSpPr>
        <p:spPr>
          <a:xfrm>
            <a:off x="6332220" y="3589115"/>
            <a:ext cx="4983480" cy="850393"/>
          </a:xfrm>
          <a:prstGeom prst="roundRect">
            <a:avLst>
              <a:gd name="adj" fmla="val 16667"/>
            </a:avLst>
          </a:prstGeom>
          <a:solidFill>
            <a:srgbClr val="121D30"/>
          </a:solidFill>
          <a:ln>
            <a:solidFill>
              <a:srgbClr val="121D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427" name="TextBox 16"/>
          <p:cNvSpPr txBox="1"/>
          <p:nvPr/>
        </p:nvSpPr>
        <p:spPr>
          <a:xfrm>
            <a:off x="6560819" y="3584352"/>
            <a:ext cx="29260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Kartik Patidar</a:t>
            </a:r>
          </a:p>
        </p:txBody>
      </p:sp>
      <p:sp>
        <p:nvSpPr>
          <p:cNvPr id="428" name="TextBox 17"/>
          <p:cNvSpPr txBox="1"/>
          <p:nvPr/>
        </p:nvSpPr>
        <p:spPr>
          <a:xfrm>
            <a:off x="6560819" y="3858672"/>
            <a:ext cx="42976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/ Cloud / Integration</a:t>
            </a:r>
          </a:p>
        </p:txBody>
      </p:sp>
      <p:sp>
        <p:nvSpPr>
          <p:cNvPr id="429" name="TextBox 18"/>
          <p:cNvSpPr txBox="1"/>
          <p:nvPr/>
        </p:nvSpPr>
        <p:spPr>
          <a:xfrm>
            <a:off x="6560819" y="4068984"/>
            <a:ext cx="43434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A4B4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pipelines, cloud deployment &amp; system integration</a:t>
            </a:r>
          </a:p>
        </p:txBody>
      </p:sp>
      <p:sp>
        <p:nvSpPr>
          <p:cNvPr id="430" name="Rounded Rectangle 19"/>
          <p:cNvSpPr/>
          <p:nvPr/>
        </p:nvSpPr>
        <p:spPr>
          <a:xfrm>
            <a:off x="914400" y="4590288"/>
            <a:ext cx="10332720" cy="841249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>
            <a:solidFill>
              <a:srgbClr val="17273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431" name="TextBox 20"/>
          <p:cNvSpPr txBox="1"/>
          <p:nvPr/>
        </p:nvSpPr>
        <p:spPr>
          <a:xfrm>
            <a:off x="1165435" y="4754879"/>
            <a:ext cx="123444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42D3E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OUR APPROACH</a:t>
            </a:r>
          </a:p>
        </p:txBody>
      </p:sp>
      <p:sp>
        <p:nvSpPr>
          <p:cNvPr id="432" name="TextBox 21"/>
          <p:cNvSpPr txBox="1"/>
          <p:nvPr/>
        </p:nvSpPr>
        <p:spPr>
          <a:xfrm>
            <a:off x="2651760" y="4856479"/>
            <a:ext cx="795527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2F6F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Build for a real workflow.   Validate with realistic constraints.   Design for public-scale deployment.</a:t>
            </a:r>
          </a:p>
        </p:txBody>
      </p:sp>
      <p:sp>
        <p:nvSpPr>
          <p:cNvPr id="433" name="TextBox 22"/>
          <p:cNvSpPr txBox="1"/>
          <p:nvPr/>
        </p:nvSpPr>
        <p:spPr>
          <a:xfrm>
            <a:off x="4791398" y="5854287"/>
            <a:ext cx="2596504" cy="6539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50800" dir="0">
              <a:srgbClr val="000000">
                <a:alpha val="86506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/>
            </a:lvl1pPr>
          </a:lstStyle>
          <a:p>
            <a:pPr/>
            <a:r>
              <a:t>Thank You</a:t>
            </a:r>
          </a:p>
        </p:txBody>
      </p:sp>
      <p:sp>
        <p:nvSpPr>
          <p:cNvPr id="434" name="Google Shape;92;p19"/>
          <p:cNvSpPr txBox="1"/>
          <p:nvPr/>
        </p:nvSpPr>
        <p:spPr>
          <a:xfrm>
            <a:off x="1324605" y="517885"/>
            <a:ext cx="8784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defTabSz="914400">
              <a:defRPr b="1" sz="1500">
                <a:solidFill>
                  <a:srgbClr val="43434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Indore</a:t>
            </a:r>
          </a:p>
        </p:txBody>
      </p:sp>
      <p:pic>
        <p:nvPicPr>
          <p:cNvPr id="435" name="Google Shape;91;p19" descr="Google Shape;91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6511" y="149884"/>
            <a:ext cx="5022908" cy="649947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